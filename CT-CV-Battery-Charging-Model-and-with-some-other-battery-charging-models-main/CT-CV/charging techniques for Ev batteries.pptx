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Bricolage Grotesque Bold" charset="1" panose="020B0605040402000204"/>
      <p:regular r:id="rId24"/>
    </p:embeddedFont>
    <p:embeddedFont>
      <p:font typeface="Rubik One" charset="1" panose="02000604000000020004"/>
      <p:regular r:id="rId25"/>
    </p:embeddedFont>
    <p:embeddedFont>
      <p:font typeface="Telegraf" charset="1" panose="00000500000000000000"/>
      <p:regular r:id="rId26"/>
    </p:embeddedFont>
    <p:embeddedFont>
      <p:font typeface="Rubik Bubbles" charset="1" panose="00000000000000000000"/>
      <p:regular r:id="rId27"/>
    </p:embeddedFont>
    <p:embeddedFont>
      <p:font typeface="Bricolage Grotesque" charset="1" panose="020B0605040402000204"/>
      <p:regular r:id="rId28"/>
    </p:embeddedFont>
    <p:embeddedFont>
      <p:font typeface="Fira Sans" charset="1" panose="020B0503050000020004"/>
      <p:regular r:id="rId29"/>
    </p:embeddedFont>
    <p:embeddedFont>
      <p:font typeface="Fira Sans Ultra-Bold" charset="1" panose="020B0903050000020004"/>
      <p:regular r:id="rId30"/>
    </p:embeddedFont>
    <p:embeddedFont>
      <p:font typeface="Fira Sans Medium" charset="1" panose="020B0603050000020004"/>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sv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20.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jpeg" Type="http://schemas.openxmlformats.org/officeDocument/2006/relationships/image"/><Relationship Id="rId3" Target="../media/image32.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jpeg" Type="http://schemas.openxmlformats.org/officeDocument/2006/relationships/image"/><Relationship Id="rId3" Target="../media/image34.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5842743" y="4379892"/>
            <a:ext cx="9076504" cy="5774926"/>
          </a:xfrm>
          <a:custGeom>
            <a:avLst/>
            <a:gdLst/>
            <a:ahLst/>
            <a:cxnLst/>
            <a:rect r="r" b="b" t="t" l="l"/>
            <a:pathLst>
              <a:path h="5774926" w="9076504">
                <a:moveTo>
                  <a:pt x="0" y="0"/>
                </a:moveTo>
                <a:lnTo>
                  <a:pt x="9076504" y="0"/>
                </a:lnTo>
                <a:lnTo>
                  <a:pt x="9076504" y="5774925"/>
                </a:lnTo>
                <a:lnTo>
                  <a:pt x="0" y="5774925"/>
                </a:lnTo>
                <a:lnTo>
                  <a:pt x="0" y="0"/>
                </a:lnTo>
                <a:close/>
              </a:path>
            </a:pathLst>
          </a:custGeom>
          <a:blipFill>
            <a:blip r:embed="rId2"/>
            <a:stretch>
              <a:fillRect l="0" t="0" r="0" b="0"/>
            </a:stretch>
          </a:blipFill>
        </p:spPr>
      </p:sp>
      <p:grpSp>
        <p:nvGrpSpPr>
          <p:cNvPr name="Group 3" id="3"/>
          <p:cNvGrpSpPr/>
          <p:nvPr/>
        </p:nvGrpSpPr>
        <p:grpSpPr>
          <a:xfrm rot="0">
            <a:off x="11864736" y="808478"/>
            <a:ext cx="4583015" cy="8032825"/>
            <a:chOff x="0" y="0"/>
            <a:chExt cx="1183774" cy="2074846"/>
          </a:xfrm>
        </p:grpSpPr>
        <p:sp>
          <p:nvSpPr>
            <p:cNvPr name="Freeform 4" id="4"/>
            <p:cNvSpPr/>
            <p:nvPr/>
          </p:nvSpPr>
          <p:spPr>
            <a:xfrm flipH="false" flipV="false" rot="0">
              <a:off x="0" y="0"/>
              <a:ext cx="1183774" cy="2074846"/>
            </a:xfrm>
            <a:custGeom>
              <a:avLst/>
              <a:gdLst/>
              <a:ahLst/>
              <a:cxnLst/>
              <a:rect r="r" b="b" t="t" l="l"/>
              <a:pathLst>
                <a:path h="2074846" w="1183774">
                  <a:moveTo>
                    <a:pt x="101356" y="0"/>
                  </a:moveTo>
                  <a:lnTo>
                    <a:pt x="1082418" y="0"/>
                  </a:lnTo>
                  <a:cubicBezTo>
                    <a:pt x="1138396" y="0"/>
                    <a:pt x="1183774" y="45379"/>
                    <a:pt x="1183774" y="101356"/>
                  </a:cubicBezTo>
                  <a:lnTo>
                    <a:pt x="1183774" y="1973490"/>
                  </a:lnTo>
                  <a:cubicBezTo>
                    <a:pt x="1183774" y="2029467"/>
                    <a:pt x="1138396" y="2074846"/>
                    <a:pt x="1082418" y="2074846"/>
                  </a:cubicBezTo>
                  <a:lnTo>
                    <a:pt x="101356" y="2074846"/>
                  </a:lnTo>
                  <a:cubicBezTo>
                    <a:pt x="74475" y="2074846"/>
                    <a:pt x="48694" y="2064167"/>
                    <a:pt x="29686" y="2045160"/>
                  </a:cubicBezTo>
                  <a:cubicBezTo>
                    <a:pt x="10679" y="2026152"/>
                    <a:pt x="0" y="2000372"/>
                    <a:pt x="0" y="1973490"/>
                  </a:cubicBezTo>
                  <a:lnTo>
                    <a:pt x="0" y="101356"/>
                  </a:lnTo>
                  <a:cubicBezTo>
                    <a:pt x="0" y="45379"/>
                    <a:pt x="45379" y="0"/>
                    <a:pt x="101356" y="0"/>
                  </a:cubicBezTo>
                  <a:close/>
                </a:path>
              </a:pathLst>
            </a:custGeom>
            <a:ln w="19050" cap="rnd">
              <a:solidFill>
                <a:srgbClr val="00B58F"/>
              </a:solidFill>
              <a:prstDash val="solid"/>
              <a:round/>
            </a:ln>
          </p:spPr>
        </p:sp>
        <p:sp>
          <p:nvSpPr>
            <p:cNvPr name="TextBox 5" id="5"/>
            <p:cNvSpPr txBox="true"/>
            <p:nvPr/>
          </p:nvSpPr>
          <p:spPr>
            <a:xfrm>
              <a:off x="0" y="-38100"/>
              <a:ext cx="1183774" cy="2112946"/>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3150242" y="9960324"/>
            <a:ext cx="9960587" cy="1142074"/>
            <a:chOff x="0" y="0"/>
            <a:chExt cx="2572779" cy="294993"/>
          </a:xfrm>
        </p:grpSpPr>
        <p:sp>
          <p:nvSpPr>
            <p:cNvPr name="Freeform 7" id="7"/>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8" id="8"/>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6835597" y="-784283"/>
            <a:ext cx="9960587" cy="1142074"/>
            <a:chOff x="0" y="0"/>
            <a:chExt cx="2572779" cy="294993"/>
          </a:xfrm>
        </p:grpSpPr>
        <p:sp>
          <p:nvSpPr>
            <p:cNvPr name="Freeform 10" id="10"/>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11" id="11"/>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2139361" y="1028700"/>
            <a:ext cx="5329489" cy="8229600"/>
            <a:chOff x="0" y="0"/>
            <a:chExt cx="4112260" cy="6350000"/>
          </a:xfrm>
        </p:grpSpPr>
        <p:sp>
          <p:nvSpPr>
            <p:cNvPr name="Freeform 13" id="13"/>
            <p:cNvSpPr/>
            <p:nvPr/>
          </p:nvSpPr>
          <p:spPr>
            <a:xfrm flipH="false" flipV="false" rot="0">
              <a:off x="0" y="0"/>
              <a:ext cx="4112260" cy="6350000"/>
            </a:xfrm>
            <a:custGeom>
              <a:avLst/>
              <a:gdLst/>
              <a:ahLst/>
              <a:cxnLst/>
              <a:rect r="r" b="b" t="t" l="l"/>
              <a:pathLst>
                <a:path h="6350000" w="4112260">
                  <a:moveTo>
                    <a:pt x="4112260" y="623570"/>
                  </a:moveTo>
                  <a:lnTo>
                    <a:pt x="4112260" y="2641600"/>
                  </a:lnTo>
                  <a:cubicBezTo>
                    <a:pt x="4112260" y="2821940"/>
                    <a:pt x="4033520" y="2993390"/>
                    <a:pt x="3897630" y="3112770"/>
                  </a:cubicBezTo>
                  <a:cubicBezTo>
                    <a:pt x="3761740" y="3230880"/>
                    <a:pt x="3683000" y="3402330"/>
                    <a:pt x="3683000" y="3583940"/>
                  </a:cubicBezTo>
                  <a:lnTo>
                    <a:pt x="3683000" y="5726430"/>
                  </a:lnTo>
                  <a:cubicBezTo>
                    <a:pt x="3683000" y="6070600"/>
                    <a:pt x="3403600" y="6350000"/>
                    <a:pt x="3059430" y="6350000"/>
                  </a:cubicBezTo>
                  <a:lnTo>
                    <a:pt x="623570" y="6350000"/>
                  </a:lnTo>
                  <a:cubicBezTo>
                    <a:pt x="279400" y="6350000"/>
                    <a:pt x="0" y="6070600"/>
                    <a:pt x="0" y="5726430"/>
                  </a:cubicBezTo>
                  <a:lnTo>
                    <a:pt x="0" y="623570"/>
                  </a:lnTo>
                  <a:cubicBezTo>
                    <a:pt x="0" y="279400"/>
                    <a:pt x="279400" y="0"/>
                    <a:pt x="623570" y="0"/>
                  </a:cubicBezTo>
                  <a:lnTo>
                    <a:pt x="3489960" y="0"/>
                  </a:lnTo>
                  <a:cubicBezTo>
                    <a:pt x="3834130" y="0"/>
                    <a:pt x="4112260" y="279400"/>
                    <a:pt x="4112260" y="623570"/>
                  </a:cubicBezTo>
                  <a:close/>
                </a:path>
              </a:pathLst>
            </a:custGeom>
            <a:blipFill>
              <a:blip r:embed="rId3"/>
              <a:stretch>
                <a:fillRect l="-103053" t="-10822" r="-53798" b="0"/>
              </a:stretch>
            </a:blipFill>
          </p:spPr>
        </p:sp>
      </p:grpSp>
      <p:grpSp>
        <p:nvGrpSpPr>
          <p:cNvPr name="Group 14" id="14"/>
          <p:cNvGrpSpPr/>
          <p:nvPr/>
        </p:nvGrpSpPr>
        <p:grpSpPr>
          <a:xfrm rot="5400000">
            <a:off x="15570345" y="6689578"/>
            <a:ext cx="3444583" cy="352427"/>
            <a:chOff x="0" y="0"/>
            <a:chExt cx="2588106" cy="264798"/>
          </a:xfrm>
        </p:grpSpPr>
        <p:sp>
          <p:nvSpPr>
            <p:cNvPr name="Freeform 15" id="15"/>
            <p:cNvSpPr/>
            <p:nvPr/>
          </p:nvSpPr>
          <p:spPr>
            <a:xfrm flipH="false" flipV="false" rot="0">
              <a:off x="34177" y="0"/>
              <a:ext cx="2519753" cy="264798"/>
            </a:xfrm>
            <a:custGeom>
              <a:avLst/>
              <a:gdLst/>
              <a:ahLst/>
              <a:cxnLst/>
              <a:rect r="r" b="b" t="t" l="l"/>
              <a:pathLst>
                <a:path h="264798" w="2519753">
                  <a:moveTo>
                    <a:pt x="2283303" y="0"/>
                  </a:moveTo>
                  <a:lnTo>
                    <a:pt x="33250" y="0"/>
                  </a:lnTo>
                  <a:cubicBezTo>
                    <a:pt x="20590" y="0"/>
                    <a:pt x="9028" y="7190"/>
                    <a:pt x="3429" y="18544"/>
                  </a:cubicBezTo>
                  <a:cubicBezTo>
                    <a:pt x="-2171" y="29899"/>
                    <a:pt x="-836" y="43448"/>
                    <a:pt x="6872" y="53492"/>
                  </a:cubicBezTo>
                  <a:lnTo>
                    <a:pt x="127974" y="211306"/>
                  </a:lnTo>
                  <a:cubicBezTo>
                    <a:pt x="153852" y="245029"/>
                    <a:pt x="193942" y="264798"/>
                    <a:pt x="236450" y="264798"/>
                  </a:cubicBezTo>
                  <a:lnTo>
                    <a:pt x="2486503" y="264798"/>
                  </a:lnTo>
                  <a:cubicBezTo>
                    <a:pt x="2499163" y="264798"/>
                    <a:pt x="2510725" y="257608"/>
                    <a:pt x="2516324" y="246254"/>
                  </a:cubicBezTo>
                  <a:cubicBezTo>
                    <a:pt x="2521923" y="234899"/>
                    <a:pt x="2520588" y="221350"/>
                    <a:pt x="2512881" y="211306"/>
                  </a:cubicBezTo>
                  <a:lnTo>
                    <a:pt x="2391778" y="53492"/>
                  </a:lnTo>
                  <a:cubicBezTo>
                    <a:pt x="2365900" y="19769"/>
                    <a:pt x="2325810" y="0"/>
                    <a:pt x="2283303" y="0"/>
                  </a:cubicBezTo>
                  <a:close/>
                </a:path>
              </a:pathLst>
            </a:custGeom>
            <a:solidFill>
              <a:srgbClr val="00B58F"/>
            </a:solidFill>
          </p:spPr>
        </p:sp>
        <p:sp>
          <p:nvSpPr>
            <p:cNvPr name="TextBox 16" id="16"/>
            <p:cNvSpPr txBox="true"/>
            <p:nvPr/>
          </p:nvSpPr>
          <p:spPr>
            <a:xfrm>
              <a:off x="101600" y="-38100"/>
              <a:ext cx="2384906" cy="302898"/>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9980785" y="3526008"/>
            <a:ext cx="3901567" cy="6292851"/>
          </a:xfrm>
          <a:custGeom>
            <a:avLst/>
            <a:gdLst/>
            <a:ahLst/>
            <a:cxnLst/>
            <a:rect r="r" b="b" t="t" l="l"/>
            <a:pathLst>
              <a:path h="6292851" w="3901567">
                <a:moveTo>
                  <a:pt x="0" y="0"/>
                </a:moveTo>
                <a:lnTo>
                  <a:pt x="3901568" y="0"/>
                </a:lnTo>
                <a:lnTo>
                  <a:pt x="3901568" y="6292851"/>
                </a:lnTo>
                <a:lnTo>
                  <a:pt x="0" y="6292851"/>
                </a:lnTo>
                <a:lnTo>
                  <a:pt x="0" y="0"/>
                </a:lnTo>
                <a:close/>
              </a:path>
            </a:pathLst>
          </a:custGeom>
          <a:blipFill>
            <a:blip r:embed="rId4"/>
            <a:stretch>
              <a:fillRect l="0" t="0" r="0" b="0"/>
            </a:stretch>
          </a:blipFill>
        </p:spPr>
      </p:sp>
      <p:grpSp>
        <p:nvGrpSpPr>
          <p:cNvPr name="Group 18" id="18"/>
          <p:cNvGrpSpPr/>
          <p:nvPr/>
        </p:nvGrpSpPr>
        <p:grpSpPr>
          <a:xfrm rot="0">
            <a:off x="10585209" y="3704870"/>
            <a:ext cx="2682192" cy="5790829"/>
            <a:chOff x="0" y="0"/>
            <a:chExt cx="692799" cy="1495748"/>
          </a:xfrm>
        </p:grpSpPr>
        <p:sp>
          <p:nvSpPr>
            <p:cNvPr name="Freeform 19" id="19"/>
            <p:cNvSpPr/>
            <p:nvPr/>
          </p:nvSpPr>
          <p:spPr>
            <a:xfrm flipH="false" flipV="false" rot="0">
              <a:off x="0" y="0"/>
              <a:ext cx="692799" cy="1495748"/>
            </a:xfrm>
            <a:custGeom>
              <a:avLst/>
              <a:gdLst/>
              <a:ahLst/>
              <a:cxnLst/>
              <a:rect r="r" b="b" t="t" l="l"/>
              <a:pathLst>
                <a:path h="1495748" w="692799">
                  <a:moveTo>
                    <a:pt x="72160" y="0"/>
                  </a:moveTo>
                  <a:lnTo>
                    <a:pt x="620639" y="0"/>
                  </a:lnTo>
                  <a:cubicBezTo>
                    <a:pt x="660492" y="0"/>
                    <a:pt x="692799" y="32307"/>
                    <a:pt x="692799" y="72160"/>
                  </a:cubicBezTo>
                  <a:lnTo>
                    <a:pt x="692799" y="1423587"/>
                  </a:lnTo>
                  <a:cubicBezTo>
                    <a:pt x="692799" y="1463440"/>
                    <a:pt x="660492" y="1495748"/>
                    <a:pt x="620639" y="1495748"/>
                  </a:cubicBezTo>
                  <a:lnTo>
                    <a:pt x="72160" y="1495748"/>
                  </a:lnTo>
                  <a:cubicBezTo>
                    <a:pt x="32307" y="1495748"/>
                    <a:pt x="0" y="1463440"/>
                    <a:pt x="0" y="1423587"/>
                  </a:cubicBezTo>
                  <a:lnTo>
                    <a:pt x="0" y="72160"/>
                  </a:lnTo>
                  <a:cubicBezTo>
                    <a:pt x="0" y="32307"/>
                    <a:pt x="32307" y="0"/>
                    <a:pt x="72160" y="0"/>
                  </a:cubicBezTo>
                  <a:close/>
                </a:path>
              </a:pathLst>
            </a:custGeom>
            <a:solidFill>
              <a:srgbClr val="00B58F"/>
            </a:solidFill>
          </p:spPr>
        </p:sp>
        <p:sp>
          <p:nvSpPr>
            <p:cNvPr name="TextBox 20" id="20"/>
            <p:cNvSpPr txBox="true"/>
            <p:nvPr/>
          </p:nvSpPr>
          <p:spPr>
            <a:xfrm>
              <a:off x="0" y="-38100"/>
              <a:ext cx="692799" cy="1533848"/>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11179047" y="4517911"/>
            <a:ext cx="1494516" cy="1190178"/>
          </a:xfrm>
          <a:custGeom>
            <a:avLst/>
            <a:gdLst/>
            <a:ahLst/>
            <a:cxnLst/>
            <a:rect r="r" b="b" t="t" l="l"/>
            <a:pathLst>
              <a:path h="1190178" w="1494516">
                <a:moveTo>
                  <a:pt x="0" y="0"/>
                </a:moveTo>
                <a:lnTo>
                  <a:pt x="1494517" y="0"/>
                </a:lnTo>
                <a:lnTo>
                  <a:pt x="1494517" y="1190179"/>
                </a:lnTo>
                <a:lnTo>
                  <a:pt x="0" y="11901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2" id="22"/>
          <p:cNvGrpSpPr/>
          <p:nvPr/>
        </p:nvGrpSpPr>
        <p:grpSpPr>
          <a:xfrm rot="0">
            <a:off x="10789445" y="6940961"/>
            <a:ext cx="2284248" cy="663414"/>
            <a:chOff x="0" y="0"/>
            <a:chExt cx="590012" cy="171357"/>
          </a:xfrm>
        </p:grpSpPr>
        <p:sp>
          <p:nvSpPr>
            <p:cNvPr name="Freeform 23" id="23"/>
            <p:cNvSpPr/>
            <p:nvPr/>
          </p:nvSpPr>
          <p:spPr>
            <a:xfrm flipH="false" flipV="false" rot="0">
              <a:off x="0" y="0"/>
              <a:ext cx="590012" cy="171357"/>
            </a:xfrm>
            <a:custGeom>
              <a:avLst/>
              <a:gdLst/>
              <a:ahLst/>
              <a:cxnLst/>
              <a:rect r="r" b="b" t="t" l="l"/>
              <a:pathLst>
                <a:path h="171357" w="590012">
                  <a:moveTo>
                    <a:pt x="33893" y="0"/>
                  </a:moveTo>
                  <a:lnTo>
                    <a:pt x="556119" y="0"/>
                  </a:lnTo>
                  <a:cubicBezTo>
                    <a:pt x="565108" y="0"/>
                    <a:pt x="573729" y="3571"/>
                    <a:pt x="580085" y="9927"/>
                  </a:cubicBezTo>
                  <a:cubicBezTo>
                    <a:pt x="586441" y="16283"/>
                    <a:pt x="590012" y="24904"/>
                    <a:pt x="590012" y="33893"/>
                  </a:cubicBezTo>
                  <a:lnTo>
                    <a:pt x="590012" y="137464"/>
                  </a:lnTo>
                  <a:cubicBezTo>
                    <a:pt x="590012" y="146453"/>
                    <a:pt x="586441" y="155074"/>
                    <a:pt x="580085" y="161430"/>
                  </a:cubicBezTo>
                  <a:cubicBezTo>
                    <a:pt x="573729" y="167786"/>
                    <a:pt x="565108" y="171357"/>
                    <a:pt x="556119" y="171357"/>
                  </a:cubicBezTo>
                  <a:lnTo>
                    <a:pt x="33893" y="171357"/>
                  </a:lnTo>
                  <a:cubicBezTo>
                    <a:pt x="24904" y="171357"/>
                    <a:pt x="16283" y="167786"/>
                    <a:pt x="9927" y="161430"/>
                  </a:cubicBezTo>
                  <a:cubicBezTo>
                    <a:pt x="3571" y="155074"/>
                    <a:pt x="0" y="146453"/>
                    <a:pt x="0" y="137464"/>
                  </a:cubicBezTo>
                  <a:lnTo>
                    <a:pt x="0" y="33893"/>
                  </a:lnTo>
                  <a:cubicBezTo>
                    <a:pt x="0" y="24904"/>
                    <a:pt x="3571" y="16283"/>
                    <a:pt x="9927" y="9927"/>
                  </a:cubicBezTo>
                  <a:cubicBezTo>
                    <a:pt x="16283" y="3571"/>
                    <a:pt x="24904" y="0"/>
                    <a:pt x="33893" y="0"/>
                  </a:cubicBezTo>
                  <a:close/>
                </a:path>
              </a:pathLst>
            </a:custGeom>
            <a:solidFill>
              <a:srgbClr val="FFFFFF"/>
            </a:solidFill>
            <a:ln cap="sq">
              <a:noFill/>
              <a:prstDash val="solid"/>
              <a:miter/>
            </a:ln>
          </p:spPr>
        </p:sp>
        <p:sp>
          <p:nvSpPr>
            <p:cNvPr name="TextBox 24" id="24"/>
            <p:cNvSpPr txBox="true"/>
            <p:nvPr/>
          </p:nvSpPr>
          <p:spPr>
            <a:xfrm>
              <a:off x="0" y="-38100"/>
              <a:ext cx="590012" cy="209457"/>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10789445" y="7760377"/>
            <a:ext cx="2284248" cy="663414"/>
            <a:chOff x="0" y="0"/>
            <a:chExt cx="590012" cy="171357"/>
          </a:xfrm>
        </p:grpSpPr>
        <p:sp>
          <p:nvSpPr>
            <p:cNvPr name="Freeform 26" id="26"/>
            <p:cNvSpPr/>
            <p:nvPr/>
          </p:nvSpPr>
          <p:spPr>
            <a:xfrm flipH="false" flipV="false" rot="0">
              <a:off x="0" y="0"/>
              <a:ext cx="590012" cy="171357"/>
            </a:xfrm>
            <a:custGeom>
              <a:avLst/>
              <a:gdLst/>
              <a:ahLst/>
              <a:cxnLst/>
              <a:rect r="r" b="b" t="t" l="l"/>
              <a:pathLst>
                <a:path h="171357" w="590012">
                  <a:moveTo>
                    <a:pt x="33893" y="0"/>
                  </a:moveTo>
                  <a:lnTo>
                    <a:pt x="556119" y="0"/>
                  </a:lnTo>
                  <a:cubicBezTo>
                    <a:pt x="565108" y="0"/>
                    <a:pt x="573729" y="3571"/>
                    <a:pt x="580085" y="9927"/>
                  </a:cubicBezTo>
                  <a:cubicBezTo>
                    <a:pt x="586441" y="16283"/>
                    <a:pt x="590012" y="24904"/>
                    <a:pt x="590012" y="33893"/>
                  </a:cubicBezTo>
                  <a:lnTo>
                    <a:pt x="590012" y="137464"/>
                  </a:lnTo>
                  <a:cubicBezTo>
                    <a:pt x="590012" y="146453"/>
                    <a:pt x="586441" y="155074"/>
                    <a:pt x="580085" y="161430"/>
                  </a:cubicBezTo>
                  <a:cubicBezTo>
                    <a:pt x="573729" y="167786"/>
                    <a:pt x="565108" y="171357"/>
                    <a:pt x="556119" y="171357"/>
                  </a:cubicBezTo>
                  <a:lnTo>
                    <a:pt x="33893" y="171357"/>
                  </a:lnTo>
                  <a:cubicBezTo>
                    <a:pt x="24904" y="171357"/>
                    <a:pt x="16283" y="167786"/>
                    <a:pt x="9927" y="161430"/>
                  </a:cubicBezTo>
                  <a:cubicBezTo>
                    <a:pt x="3571" y="155074"/>
                    <a:pt x="0" y="146453"/>
                    <a:pt x="0" y="137464"/>
                  </a:cubicBezTo>
                  <a:lnTo>
                    <a:pt x="0" y="33893"/>
                  </a:lnTo>
                  <a:cubicBezTo>
                    <a:pt x="0" y="24904"/>
                    <a:pt x="3571" y="16283"/>
                    <a:pt x="9927" y="9927"/>
                  </a:cubicBezTo>
                  <a:cubicBezTo>
                    <a:pt x="16283" y="3571"/>
                    <a:pt x="24904" y="0"/>
                    <a:pt x="33893" y="0"/>
                  </a:cubicBezTo>
                  <a:close/>
                </a:path>
              </a:pathLst>
            </a:custGeom>
            <a:solidFill>
              <a:srgbClr val="FFFFFF"/>
            </a:solidFill>
            <a:ln cap="sq">
              <a:noFill/>
              <a:prstDash val="solid"/>
              <a:miter/>
            </a:ln>
          </p:spPr>
        </p:sp>
        <p:sp>
          <p:nvSpPr>
            <p:cNvPr name="TextBox 27" id="27"/>
            <p:cNvSpPr txBox="true"/>
            <p:nvPr/>
          </p:nvSpPr>
          <p:spPr>
            <a:xfrm>
              <a:off x="0" y="-38100"/>
              <a:ext cx="590012" cy="209457"/>
            </a:xfrm>
            <a:prstGeom prst="rect">
              <a:avLst/>
            </a:prstGeom>
          </p:spPr>
          <p:txBody>
            <a:bodyPr anchor="ctr" rtlCol="false" tIns="50800" lIns="50800" bIns="50800" rIns="50800"/>
            <a:lstStyle/>
            <a:p>
              <a:pPr algn="ctr">
                <a:lnSpc>
                  <a:spcPts val="2659"/>
                </a:lnSpc>
                <a:spcBef>
                  <a:spcPct val="0"/>
                </a:spcBef>
              </a:pPr>
            </a:p>
          </p:txBody>
        </p:sp>
      </p:grpSp>
      <p:grpSp>
        <p:nvGrpSpPr>
          <p:cNvPr name="Group 28" id="28"/>
          <p:cNvGrpSpPr/>
          <p:nvPr/>
        </p:nvGrpSpPr>
        <p:grpSpPr>
          <a:xfrm rot="0">
            <a:off x="10789445" y="8579794"/>
            <a:ext cx="2284248" cy="663414"/>
            <a:chOff x="0" y="0"/>
            <a:chExt cx="590012" cy="171357"/>
          </a:xfrm>
        </p:grpSpPr>
        <p:sp>
          <p:nvSpPr>
            <p:cNvPr name="Freeform 29" id="29"/>
            <p:cNvSpPr/>
            <p:nvPr/>
          </p:nvSpPr>
          <p:spPr>
            <a:xfrm flipH="false" flipV="false" rot="0">
              <a:off x="0" y="0"/>
              <a:ext cx="590012" cy="171357"/>
            </a:xfrm>
            <a:custGeom>
              <a:avLst/>
              <a:gdLst/>
              <a:ahLst/>
              <a:cxnLst/>
              <a:rect r="r" b="b" t="t" l="l"/>
              <a:pathLst>
                <a:path h="171357" w="590012">
                  <a:moveTo>
                    <a:pt x="33893" y="0"/>
                  </a:moveTo>
                  <a:lnTo>
                    <a:pt x="556119" y="0"/>
                  </a:lnTo>
                  <a:cubicBezTo>
                    <a:pt x="565108" y="0"/>
                    <a:pt x="573729" y="3571"/>
                    <a:pt x="580085" y="9927"/>
                  </a:cubicBezTo>
                  <a:cubicBezTo>
                    <a:pt x="586441" y="16283"/>
                    <a:pt x="590012" y="24904"/>
                    <a:pt x="590012" y="33893"/>
                  </a:cubicBezTo>
                  <a:lnTo>
                    <a:pt x="590012" y="137464"/>
                  </a:lnTo>
                  <a:cubicBezTo>
                    <a:pt x="590012" y="146453"/>
                    <a:pt x="586441" y="155074"/>
                    <a:pt x="580085" y="161430"/>
                  </a:cubicBezTo>
                  <a:cubicBezTo>
                    <a:pt x="573729" y="167786"/>
                    <a:pt x="565108" y="171357"/>
                    <a:pt x="556119" y="171357"/>
                  </a:cubicBezTo>
                  <a:lnTo>
                    <a:pt x="33893" y="171357"/>
                  </a:lnTo>
                  <a:cubicBezTo>
                    <a:pt x="24904" y="171357"/>
                    <a:pt x="16283" y="167786"/>
                    <a:pt x="9927" y="161430"/>
                  </a:cubicBezTo>
                  <a:cubicBezTo>
                    <a:pt x="3571" y="155074"/>
                    <a:pt x="0" y="146453"/>
                    <a:pt x="0" y="137464"/>
                  </a:cubicBezTo>
                  <a:lnTo>
                    <a:pt x="0" y="33893"/>
                  </a:lnTo>
                  <a:cubicBezTo>
                    <a:pt x="0" y="24904"/>
                    <a:pt x="3571" y="16283"/>
                    <a:pt x="9927" y="9927"/>
                  </a:cubicBezTo>
                  <a:cubicBezTo>
                    <a:pt x="16283" y="3571"/>
                    <a:pt x="24904" y="0"/>
                    <a:pt x="33893" y="0"/>
                  </a:cubicBezTo>
                  <a:close/>
                </a:path>
              </a:pathLst>
            </a:custGeom>
            <a:solidFill>
              <a:srgbClr val="FFFFFF"/>
            </a:solidFill>
            <a:ln cap="sq">
              <a:noFill/>
              <a:prstDash val="solid"/>
              <a:miter/>
            </a:ln>
          </p:spPr>
        </p:sp>
        <p:sp>
          <p:nvSpPr>
            <p:cNvPr name="TextBox 30" id="30"/>
            <p:cNvSpPr txBox="true"/>
            <p:nvPr/>
          </p:nvSpPr>
          <p:spPr>
            <a:xfrm>
              <a:off x="0" y="-38100"/>
              <a:ext cx="590012" cy="209457"/>
            </a:xfrm>
            <a:prstGeom prst="rect">
              <a:avLst/>
            </a:prstGeom>
          </p:spPr>
          <p:txBody>
            <a:bodyPr anchor="ctr" rtlCol="false" tIns="50800" lIns="50800" bIns="50800" rIns="50800"/>
            <a:lstStyle/>
            <a:p>
              <a:pPr algn="ctr">
                <a:lnSpc>
                  <a:spcPts val="2659"/>
                </a:lnSpc>
                <a:spcBef>
                  <a:spcPct val="0"/>
                </a:spcBef>
              </a:pPr>
            </a:p>
          </p:txBody>
        </p:sp>
      </p:grpSp>
      <p:sp>
        <p:nvSpPr>
          <p:cNvPr name="TextBox 31" id="31"/>
          <p:cNvSpPr txBox="true"/>
          <p:nvPr/>
        </p:nvSpPr>
        <p:spPr>
          <a:xfrm rot="0">
            <a:off x="11054169" y="5803322"/>
            <a:ext cx="1773850" cy="618976"/>
          </a:xfrm>
          <a:prstGeom prst="rect">
            <a:avLst/>
          </a:prstGeom>
        </p:spPr>
        <p:txBody>
          <a:bodyPr anchor="t" rtlCol="false" tIns="0" lIns="0" bIns="0" rIns="0">
            <a:spAutoFit/>
          </a:bodyPr>
          <a:lstStyle/>
          <a:p>
            <a:pPr algn="ctr">
              <a:lnSpc>
                <a:spcPts val="2400"/>
              </a:lnSpc>
            </a:pPr>
            <a:r>
              <a:rPr lang="en-US" b="true" sz="2000" spc="50">
                <a:solidFill>
                  <a:srgbClr val="0B132B"/>
                </a:solidFill>
                <a:latin typeface="Bricolage Grotesque Bold"/>
                <a:ea typeface="Bricolage Grotesque Bold"/>
                <a:cs typeface="Bricolage Grotesque Bold"/>
                <a:sym typeface="Bricolage Grotesque Bold"/>
              </a:rPr>
              <a:t>Larana Electric Car</a:t>
            </a:r>
          </a:p>
        </p:txBody>
      </p:sp>
      <p:sp>
        <p:nvSpPr>
          <p:cNvPr name="TextBox 32" id="32"/>
          <p:cNvSpPr txBox="true"/>
          <p:nvPr/>
        </p:nvSpPr>
        <p:spPr>
          <a:xfrm rot="0">
            <a:off x="-22975" y="735216"/>
            <a:ext cx="8881986" cy="3782696"/>
          </a:xfrm>
          <a:prstGeom prst="rect">
            <a:avLst/>
          </a:prstGeom>
        </p:spPr>
        <p:txBody>
          <a:bodyPr anchor="t" rtlCol="false" tIns="0" lIns="0" bIns="0" rIns="0">
            <a:spAutoFit/>
          </a:bodyPr>
          <a:lstStyle/>
          <a:p>
            <a:pPr algn="l">
              <a:lnSpc>
                <a:spcPts val="9800"/>
              </a:lnSpc>
            </a:pPr>
            <a:r>
              <a:rPr lang="en-US" sz="9800">
                <a:solidFill>
                  <a:srgbClr val="0B132B"/>
                </a:solidFill>
                <a:latin typeface="Rubik One"/>
                <a:ea typeface="Rubik One"/>
                <a:cs typeface="Rubik One"/>
                <a:sym typeface="Rubik One"/>
              </a:rPr>
              <a:t>CHARGING TECHNIQUES OF </a:t>
            </a:r>
          </a:p>
        </p:txBody>
      </p:sp>
      <p:sp>
        <p:nvSpPr>
          <p:cNvPr name="TextBox 33" id="33"/>
          <p:cNvSpPr txBox="true"/>
          <p:nvPr/>
        </p:nvSpPr>
        <p:spPr>
          <a:xfrm rot="0">
            <a:off x="1874351" y="3211690"/>
            <a:ext cx="9532775" cy="1306196"/>
          </a:xfrm>
          <a:prstGeom prst="rect">
            <a:avLst/>
          </a:prstGeom>
        </p:spPr>
        <p:txBody>
          <a:bodyPr anchor="t" rtlCol="false" tIns="0" lIns="0" bIns="0" rIns="0">
            <a:spAutoFit/>
          </a:bodyPr>
          <a:lstStyle/>
          <a:p>
            <a:pPr algn="l">
              <a:lnSpc>
                <a:spcPts val="9800"/>
              </a:lnSpc>
            </a:pPr>
            <a:r>
              <a:rPr lang="en-US" sz="9800">
                <a:solidFill>
                  <a:srgbClr val="00B58F"/>
                </a:solidFill>
                <a:latin typeface="Rubik One"/>
                <a:ea typeface="Rubik One"/>
                <a:cs typeface="Rubik One"/>
                <a:sym typeface="Rubik One"/>
              </a:rPr>
              <a:t>EV BATTERY</a:t>
            </a:r>
          </a:p>
        </p:txBody>
      </p:sp>
      <p:sp>
        <p:nvSpPr>
          <p:cNvPr name="TextBox 34" id="34"/>
          <p:cNvSpPr txBox="true"/>
          <p:nvPr/>
        </p:nvSpPr>
        <p:spPr>
          <a:xfrm rot="0">
            <a:off x="11167252" y="7132733"/>
            <a:ext cx="1518107" cy="330275"/>
          </a:xfrm>
          <a:prstGeom prst="rect">
            <a:avLst/>
          </a:prstGeom>
        </p:spPr>
        <p:txBody>
          <a:bodyPr anchor="t" rtlCol="false" tIns="0" lIns="0" bIns="0" rIns="0">
            <a:spAutoFit/>
          </a:bodyPr>
          <a:lstStyle/>
          <a:p>
            <a:pPr algn="ctr">
              <a:lnSpc>
                <a:spcPts val="2500"/>
              </a:lnSpc>
            </a:pPr>
            <a:r>
              <a:rPr lang="en-US" sz="2500">
                <a:solidFill>
                  <a:srgbClr val="112752"/>
                </a:solidFill>
                <a:latin typeface="Rubik One"/>
                <a:ea typeface="Rubik One"/>
                <a:cs typeface="Rubik One"/>
                <a:sym typeface="Rubik One"/>
              </a:rPr>
              <a:t>Fast</a:t>
            </a:r>
          </a:p>
        </p:txBody>
      </p:sp>
      <p:sp>
        <p:nvSpPr>
          <p:cNvPr name="TextBox 35" id="35"/>
          <p:cNvSpPr txBox="true"/>
          <p:nvPr/>
        </p:nvSpPr>
        <p:spPr>
          <a:xfrm rot="0">
            <a:off x="10922228" y="7968419"/>
            <a:ext cx="2008154" cy="330275"/>
          </a:xfrm>
          <a:prstGeom prst="rect">
            <a:avLst/>
          </a:prstGeom>
        </p:spPr>
        <p:txBody>
          <a:bodyPr anchor="t" rtlCol="false" tIns="0" lIns="0" bIns="0" rIns="0">
            <a:spAutoFit/>
          </a:bodyPr>
          <a:lstStyle/>
          <a:p>
            <a:pPr algn="ctr">
              <a:lnSpc>
                <a:spcPts val="2500"/>
              </a:lnSpc>
            </a:pPr>
            <a:r>
              <a:rPr lang="en-US" sz="2500">
                <a:solidFill>
                  <a:srgbClr val="112752"/>
                </a:solidFill>
                <a:latin typeface="Rubik One"/>
                <a:ea typeface="Rubik One"/>
                <a:cs typeface="Rubik One"/>
                <a:sym typeface="Rubik One"/>
              </a:rPr>
              <a:t>Modern</a:t>
            </a:r>
          </a:p>
        </p:txBody>
      </p:sp>
      <p:sp>
        <p:nvSpPr>
          <p:cNvPr name="TextBox 36" id="36"/>
          <p:cNvSpPr txBox="true"/>
          <p:nvPr/>
        </p:nvSpPr>
        <p:spPr>
          <a:xfrm rot="0">
            <a:off x="10778918" y="8787836"/>
            <a:ext cx="2294775" cy="330275"/>
          </a:xfrm>
          <a:prstGeom prst="rect">
            <a:avLst/>
          </a:prstGeom>
        </p:spPr>
        <p:txBody>
          <a:bodyPr anchor="t" rtlCol="false" tIns="0" lIns="0" bIns="0" rIns="0">
            <a:spAutoFit/>
          </a:bodyPr>
          <a:lstStyle/>
          <a:p>
            <a:pPr algn="ctr">
              <a:lnSpc>
                <a:spcPts val="2500"/>
              </a:lnSpc>
            </a:pPr>
            <a:r>
              <a:rPr lang="en-US" sz="2500">
                <a:solidFill>
                  <a:srgbClr val="112752"/>
                </a:solidFill>
                <a:latin typeface="Rubik One"/>
                <a:ea typeface="Rubik One"/>
                <a:cs typeface="Rubik One"/>
                <a:sym typeface="Rubik One"/>
              </a:rPr>
              <a:t>Efficient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783342" y="1486545"/>
            <a:ext cx="2604503" cy="6953574"/>
            <a:chOff x="0" y="0"/>
            <a:chExt cx="672733" cy="1796080"/>
          </a:xfrm>
        </p:grpSpPr>
        <p:sp>
          <p:nvSpPr>
            <p:cNvPr name="Freeform 3" id="3"/>
            <p:cNvSpPr/>
            <p:nvPr/>
          </p:nvSpPr>
          <p:spPr>
            <a:xfrm flipH="false" flipV="false" rot="0">
              <a:off x="0" y="0"/>
              <a:ext cx="672733" cy="1796080"/>
            </a:xfrm>
            <a:custGeom>
              <a:avLst/>
              <a:gdLst/>
              <a:ahLst/>
              <a:cxnLst/>
              <a:rect r="r" b="b" t="t" l="l"/>
              <a:pathLst>
                <a:path h="1796080" w="672733">
                  <a:moveTo>
                    <a:pt x="178351" y="0"/>
                  </a:moveTo>
                  <a:lnTo>
                    <a:pt x="494382" y="0"/>
                  </a:lnTo>
                  <a:cubicBezTo>
                    <a:pt x="541683" y="0"/>
                    <a:pt x="587048" y="18790"/>
                    <a:pt x="620495" y="52238"/>
                  </a:cubicBezTo>
                  <a:cubicBezTo>
                    <a:pt x="653942" y="85685"/>
                    <a:pt x="672733" y="131049"/>
                    <a:pt x="672733" y="178351"/>
                  </a:cubicBezTo>
                  <a:lnTo>
                    <a:pt x="672733" y="1617729"/>
                  </a:lnTo>
                  <a:cubicBezTo>
                    <a:pt x="672733" y="1716230"/>
                    <a:pt x="592882" y="1796080"/>
                    <a:pt x="494382" y="1796080"/>
                  </a:cubicBezTo>
                  <a:lnTo>
                    <a:pt x="178351" y="1796080"/>
                  </a:lnTo>
                  <a:cubicBezTo>
                    <a:pt x="131049" y="1796080"/>
                    <a:pt x="85685" y="1777289"/>
                    <a:pt x="52238" y="1743842"/>
                  </a:cubicBezTo>
                  <a:cubicBezTo>
                    <a:pt x="18790" y="1710395"/>
                    <a:pt x="0" y="1665031"/>
                    <a:pt x="0" y="1617729"/>
                  </a:cubicBezTo>
                  <a:lnTo>
                    <a:pt x="0" y="178351"/>
                  </a:lnTo>
                  <a:cubicBezTo>
                    <a:pt x="0" y="131049"/>
                    <a:pt x="18790" y="85685"/>
                    <a:pt x="52238" y="52238"/>
                  </a:cubicBezTo>
                  <a:cubicBezTo>
                    <a:pt x="85685" y="18790"/>
                    <a:pt x="131049" y="0"/>
                    <a:pt x="178351" y="0"/>
                  </a:cubicBezTo>
                  <a:close/>
                </a:path>
              </a:pathLst>
            </a:custGeom>
            <a:ln w="19050" cap="rnd">
              <a:solidFill>
                <a:srgbClr val="00B58F"/>
              </a:solidFill>
              <a:prstDash val="solid"/>
              <a:round/>
            </a:ln>
          </p:spPr>
        </p:sp>
        <p:sp>
          <p:nvSpPr>
            <p:cNvPr name="TextBox 4" id="4"/>
            <p:cNvSpPr txBox="true"/>
            <p:nvPr/>
          </p:nvSpPr>
          <p:spPr>
            <a:xfrm>
              <a:off x="0" y="-38100"/>
              <a:ext cx="672733" cy="183418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2130638" y="848532"/>
            <a:ext cx="5841370" cy="8229600"/>
            <a:chOff x="0" y="0"/>
            <a:chExt cx="4507230" cy="6350000"/>
          </a:xfrm>
        </p:grpSpPr>
        <p:sp>
          <p:nvSpPr>
            <p:cNvPr name="Freeform 6" id="6"/>
            <p:cNvSpPr/>
            <p:nvPr/>
          </p:nvSpPr>
          <p:spPr>
            <a:xfrm flipH="false" flipV="false" rot="0">
              <a:off x="0" y="0"/>
              <a:ext cx="4505960" cy="6350000"/>
            </a:xfrm>
            <a:custGeom>
              <a:avLst/>
              <a:gdLst/>
              <a:ahLst/>
              <a:cxnLst/>
              <a:rect r="r" b="b" t="t" l="l"/>
              <a:pathLst>
                <a:path h="6350000" w="4505960">
                  <a:moveTo>
                    <a:pt x="0" y="561340"/>
                  </a:moveTo>
                  <a:lnTo>
                    <a:pt x="0" y="3961130"/>
                  </a:lnTo>
                  <a:cubicBezTo>
                    <a:pt x="0" y="4272280"/>
                    <a:pt x="252730" y="4523740"/>
                    <a:pt x="562610" y="4522470"/>
                  </a:cubicBezTo>
                  <a:cubicBezTo>
                    <a:pt x="873760" y="4521200"/>
                    <a:pt x="1126490" y="4773930"/>
                    <a:pt x="1125220" y="5085080"/>
                  </a:cubicBezTo>
                  <a:lnTo>
                    <a:pt x="1123950" y="5787390"/>
                  </a:lnTo>
                  <a:cubicBezTo>
                    <a:pt x="1123950" y="6098540"/>
                    <a:pt x="1375410" y="6350000"/>
                    <a:pt x="1685290" y="6350000"/>
                  </a:cubicBezTo>
                  <a:lnTo>
                    <a:pt x="3944620" y="6350000"/>
                  </a:lnTo>
                  <a:cubicBezTo>
                    <a:pt x="4254500" y="6350000"/>
                    <a:pt x="4505960" y="6098540"/>
                    <a:pt x="4505960" y="5788660"/>
                  </a:cubicBezTo>
                  <a:lnTo>
                    <a:pt x="4505960" y="2679700"/>
                  </a:lnTo>
                  <a:cubicBezTo>
                    <a:pt x="4505960" y="2494280"/>
                    <a:pt x="4414520" y="2321560"/>
                    <a:pt x="4262120" y="2217420"/>
                  </a:cubicBezTo>
                  <a:lnTo>
                    <a:pt x="1184910" y="99060"/>
                  </a:lnTo>
                  <a:cubicBezTo>
                    <a:pt x="1090930" y="34290"/>
                    <a:pt x="980440" y="0"/>
                    <a:pt x="866140" y="0"/>
                  </a:cubicBezTo>
                  <a:lnTo>
                    <a:pt x="561340" y="0"/>
                  </a:lnTo>
                  <a:cubicBezTo>
                    <a:pt x="251460" y="0"/>
                    <a:pt x="0" y="251460"/>
                    <a:pt x="0" y="561340"/>
                  </a:cubicBezTo>
                  <a:close/>
                </a:path>
              </a:pathLst>
            </a:custGeom>
            <a:blipFill>
              <a:blip r:embed="rId2"/>
              <a:stretch>
                <a:fillRect l="-36159" t="0" r="-51739" b="0"/>
              </a:stretch>
            </a:blipFill>
          </p:spPr>
        </p:sp>
      </p:grpSp>
      <p:grpSp>
        <p:nvGrpSpPr>
          <p:cNvPr name="Group 7" id="7"/>
          <p:cNvGrpSpPr/>
          <p:nvPr/>
        </p:nvGrpSpPr>
        <p:grpSpPr>
          <a:xfrm rot="5400000">
            <a:off x="11130421" y="7827794"/>
            <a:ext cx="1875209" cy="625467"/>
            <a:chOff x="0" y="0"/>
            <a:chExt cx="2884193" cy="962009"/>
          </a:xfrm>
        </p:grpSpPr>
        <p:sp>
          <p:nvSpPr>
            <p:cNvPr name="Freeform 8" id="8"/>
            <p:cNvSpPr/>
            <p:nvPr/>
          </p:nvSpPr>
          <p:spPr>
            <a:xfrm flipH="false" flipV="false" rot="0">
              <a:off x="23428" y="0"/>
              <a:ext cx="2837337" cy="962009"/>
            </a:xfrm>
            <a:custGeom>
              <a:avLst/>
              <a:gdLst/>
              <a:ahLst/>
              <a:cxnLst/>
              <a:rect r="r" b="b" t="t" l="l"/>
              <a:pathLst>
                <a:path h="962009" w="2837337">
                  <a:moveTo>
                    <a:pt x="303629" y="0"/>
                  </a:moveTo>
                  <a:lnTo>
                    <a:pt x="2736908" y="0"/>
                  </a:lnTo>
                  <a:cubicBezTo>
                    <a:pt x="2767185" y="0"/>
                    <a:pt x="2795846" y="13659"/>
                    <a:pt x="2814915" y="37177"/>
                  </a:cubicBezTo>
                  <a:cubicBezTo>
                    <a:pt x="2833984" y="60694"/>
                    <a:pt x="2841425" y="91560"/>
                    <a:pt x="2835168" y="121183"/>
                  </a:cubicBezTo>
                  <a:lnTo>
                    <a:pt x="2683162" y="840826"/>
                  </a:lnTo>
                  <a:cubicBezTo>
                    <a:pt x="2668242" y="911464"/>
                    <a:pt x="2605904" y="962009"/>
                    <a:pt x="2533708" y="962009"/>
                  </a:cubicBezTo>
                  <a:lnTo>
                    <a:pt x="100429" y="962009"/>
                  </a:lnTo>
                  <a:cubicBezTo>
                    <a:pt x="70152" y="962009"/>
                    <a:pt x="41491" y="948350"/>
                    <a:pt x="22422" y="924833"/>
                  </a:cubicBezTo>
                  <a:cubicBezTo>
                    <a:pt x="3353" y="901315"/>
                    <a:pt x="-4088" y="870450"/>
                    <a:pt x="2169" y="840826"/>
                  </a:cubicBezTo>
                  <a:lnTo>
                    <a:pt x="154175" y="121183"/>
                  </a:lnTo>
                  <a:cubicBezTo>
                    <a:pt x="169095" y="50546"/>
                    <a:pt x="231433" y="0"/>
                    <a:pt x="303629" y="0"/>
                  </a:cubicBezTo>
                  <a:close/>
                </a:path>
              </a:pathLst>
            </a:custGeom>
            <a:solidFill>
              <a:srgbClr val="00B58F"/>
            </a:solidFill>
          </p:spPr>
        </p:sp>
        <p:sp>
          <p:nvSpPr>
            <p:cNvPr name="TextBox 9" id="9"/>
            <p:cNvSpPr txBox="true"/>
            <p:nvPr/>
          </p:nvSpPr>
          <p:spPr>
            <a:xfrm>
              <a:off x="101600" y="-38100"/>
              <a:ext cx="2680993" cy="1000109"/>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2073035">
            <a:off x="13678295" y="1105319"/>
            <a:ext cx="4112143" cy="1390748"/>
            <a:chOff x="0" y="0"/>
            <a:chExt cx="4431354" cy="1498707"/>
          </a:xfrm>
        </p:grpSpPr>
        <p:sp>
          <p:nvSpPr>
            <p:cNvPr name="Freeform 11" id="11"/>
            <p:cNvSpPr/>
            <p:nvPr/>
          </p:nvSpPr>
          <p:spPr>
            <a:xfrm flipH="false" flipV="false" rot="0">
              <a:off x="13057" y="5769"/>
              <a:ext cx="4405240" cy="1492938"/>
            </a:xfrm>
            <a:custGeom>
              <a:avLst/>
              <a:gdLst/>
              <a:ahLst/>
              <a:cxnLst/>
              <a:rect r="r" b="b" t="t" l="l"/>
              <a:pathLst>
                <a:path h="1492938" w="4405240">
                  <a:moveTo>
                    <a:pt x="2218215" y="4779"/>
                  </a:moveTo>
                  <a:lnTo>
                    <a:pt x="4402703" y="1482390"/>
                  </a:lnTo>
                  <a:cubicBezTo>
                    <a:pt x="4404802" y="1483810"/>
                    <a:pt x="4405729" y="1486435"/>
                    <a:pt x="4404986" y="1488859"/>
                  </a:cubicBezTo>
                  <a:cubicBezTo>
                    <a:pt x="4404244" y="1491283"/>
                    <a:pt x="4402005" y="1492938"/>
                    <a:pt x="4399470" y="1492938"/>
                  </a:cubicBezTo>
                  <a:lnTo>
                    <a:pt x="5770" y="1492938"/>
                  </a:lnTo>
                  <a:cubicBezTo>
                    <a:pt x="3235" y="1492938"/>
                    <a:pt x="997" y="1491283"/>
                    <a:pt x="254" y="1488859"/>
                  </a:cubicBezTo>
                  <a:cubicBezTo>
                    <a:pt x="-489" y="1486435"/>
                    <a:pt x="438" y="1483810"/>
                    <a:pt x="2538" y="1482390"/>
                  </a:cubicBezTo>
                  <a:lnTo>
                    <a:pt x="2187025" y="4779"/>
                  </a:lnTo>
                  <a:cubicBezTo>
                    <a:pt x="2196446" y="-1593"/>
                    <a:pt x="2208794" y="-1593"/>
                    <a:pt x="2218215" y="4779"/>
                  </a:cubicBezTo>
                  <a:close/>
                </a:path>
              </a:pathLst>
            </a:custGeom>
            <a:solidFill>
              <a:srgbClr val="00B58F"/>
            </a:solidFill>
          </p:spPr>
        </p:sp>
        <p:sp>
          <p:nvSpPr>
            <p:cNvPr name="TextBox 12" id="12"/>
            <p:cNvSpPr txBox="true"/>
            <p:nvPr/>
          </p:nvSpPr>
          <p:spPr>
            <a:xfrm>
              <a:off x="692399" y="657728"/>
              <a:ext cx="3046556" cy="733928"/>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5106756" y="7387303"/>
            <a:ext cx="518642" cy="762708"/>
          </a:xfrm>
          <a:custGeom>
            <a:avLst/>
            <a:gdLst/>
            <a:ahLst/>
            <a:cxnLst/>
            <a:rect r="r" b="b" t="t" l="l"/>
            <a:pathLst>
              <a:path h="762708" w="518642">
                <a:moveTo>
                  <a:pt x="0" y="0"/>
                </a:moveTo>
                <a:lnTo>
                  <a:pt x="518642" y="0"/>
                </a:lnTo>
                <a:lnTo>
                  <a:pt x="518642" y="762708"/>
                </a:lnTo>
                <a:lnTo>
                  <a:pt x="0" y="7627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7466273" y="7387303"/>
            <a:ext cx="633741" cy="762708"/>
          </a:xfrm>
          <a:custGeom>
            <a:avLst/>
            <a:gdLst/>
            <a:ahLst/>
            <a:cxnLst/>
            <a:rect r="r" b="b" t="t" l="l"/>
            <a:pathLst>
              <a:path h="762708" w="633741">
                <a:moveTo>
                  <a:pt x="0" y="0"/>
                </a:moveTo>
                <a:lnTo>
                  <a:pt x="633741" y="0"/>
                </a:lnTo>
                <a:lnTo>
                  <a:pt x="633741" y="762708"/>
                </a:lnTo>
                <a:lnTo>
                  <a:pt x="0" y="7627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69197" y="4954535"/>
            <a:ext cx="9313197" cy="5119490"/>
          </a:xfrm>
          <a:prstGeom prst="rect">
            <a:avLst/>
          </a:prstGeom>
        </p:spPr>
        <p:txBody>
          <a:bodyPr anchor="t" rtlCol="false" tIns="0" lIns="0" bIns="0" rIns="0">
            <a:spAutoFit/>
          </a:bodyPr>
          <a:lstStyle/>
          <a:p>
            <a:pPr algn="l" marL="572736" indent="-286368" lvl="1">
              <a:lnSpc>
                <a:spcPts val="3713"/>
              </a:lnSpc>
              <a:buFont typeface="Arial"/>
              <a:buChar char="•"/>
            </a:pPr>
            <a:r>
              <a:rPr lang="en-US" sz="2652" spc="66">
                <a:solidFill>
                  <a:srgbClr val="0B132B"/>
                </a:solidFill>
                <a:latin typeface="Telegraf"/>
                <a:ea typeface="Telegraf"/>
                <a:cs typeface="Telegraf"/>
                <a:sym typeface="Telegraf"/>
              </a:rPr>
              <a:t>Battery charging significantly affects the performance, efficiency, and lifespan of rechargeable batteries used in applications like electric vehicles and portable devices.</a:t>
            </a:r>
          </a:p>
          <a:p>
            <a:pPr algn="l" marL="572736" indent="-286368" lvl="1">
              <a:lnSpc>
                <a:spcPts val="3713"/>
              </a:lnSpc>
              <a:buFont typeface="Arial"/>
              <a:buChar char="•"/>
            </a:pPr>
            <a:r>
              <a:rPr lang="en-US" sz="2652" spc="66">
                <a:solidFill>
                  <a:srgbClr val="0B132B"/>
                </a:solidFill>
                <a:latin typeface="Telegraf"/>
                <a:ea typeface="Telegraf"/>
                <a:cs typeface="Telegraf"/>
                <a:sym typeface="Telegraf"/>
              </a:rPr>
              <a:t>Various charging techniques such as CC, CV, CC–CV, and temperature-based methods are used to balance charging speed and safety.</a:t>
            </a:r>
          </a:p>
          <a:p>
            <a:pPr algn="l" marL="572736" indent="-286368" lvl="1">
              <a:lnSpc>
                <a:spcPts val="3713"/>
              </a:lnSpc>
              <a:buFont typeface="Arial"/>
              <a:buChar char="•"/>
            </a:pPr>
            <a:r>
              <a:rPr lang="en-US" sz="2652" spc="66">
                <a:solidFill>
                  <a:srgbClr val="0B132B"/>
                </a:solidFill>
                <a:latin typeface="Telegraf"/>
                <a:ea typeface="Telegraf"/>
                <a:cs typeface="Telegraf"/>
                <a:sym typeface="Telegraf"/>
              </a:rPr>
              <a:t>Each method has distinct characteristics in terms of voltage and current behavior, along with specific advantages and limitations.</a:t>
            </a:r>
          </a:p>
          <a:p>
            <a:pPr algn="l">
              <a:lnSpc>
                <a:spcPts val="3713"/>
              </a:lnSpc>
            </a:pPr>
          </a:p>
        </p:txBody>
      </p:sp>
      <p:grpSp>
        <p:nvGrpSpPr>
          <p:cNvPr name="Group 16" id="16"/>
          <p:cNvGrpSpPr/>
          <p:nvPr/>
        </p:nvGrpSpPr>
        <p:grpSpPr>
          <a:xfrm rot="0">
            <a:off x="-3150242" y="9960324"/>
            <a:ext cx="9960587" cy="1142074"/>
            <a:chOff x="0" y="0"/>
            <a:chExt cx="2572779" cy="294993"/>
          </a:xfrm>
        </p:grpSpPr>
        <p:sp>
          <p:nvSpPr>
            <p:cNvPr name="Freeform 17" id="17"/>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18" id="18"/>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0">
            <a:off x="14338615" y="-784283"/>
            <a:ext cx="12457569" cy="1142074"/>
            <a:chOff x="0" y="0"/>
            <a:chExt cx="3217739" cy="294993"/>
          </a:xfrm>
        </p:grpSpPr>
        <p:sp>
          <p:nvSpPr>
            <p:cNvPr name="Freeform 20" id="20"/>
            <p:cNvSpPr/>
            <p:nvPr/>
          </p:nvSpPr>
          <p:spPr>
            <a:xfrm flipH="false" flipV="false" rot="0">
              <a:off x="0" y="0"/>
              <a:ext cx="3217739" cy="294993"/>
            </a:xfrm>
            <a:custGeom>
              <a:avLst/>
              <a:gdLst/>
              <a:ahLst/>
              <a:cxnLst/>
              <a:rect r="r" b="b" t="t" l="l"/>
              <a:pathLst>
                <a:path h="294993" w="3217739">
                  <a:moveTo>
                    <a:pt x="37288" y="0"/>
                  </a:moveTo>
                  <a:lnTo>
                    <a:pt x="3180451" y="0"/>
                  </a:lnTo>
                  <a:cubicBezTo>
                    <a:pt x="3201045" y="0"/>
                    <a:pt x="3217739" y="16694"/>
                    <a:pt x="3217739" y="37288"/>
                  </a:cubicBezTo>
                  <a:lnTo>
                    <a:pt x="3217739" y="257705"/>
                  </a:lnTo>
                  <a:cubicBezTo>
                    <a:pt x="3217739" y="267595"/>
                    <a:pt x="3213811" y="277079"/>
                    <a:pt x="3206818" y="284072"/>
                  </a:cubicBezTo>
                  <a:cubicBezTo>
                    <a:pt x="3199825" y="291064"/>
                    <a:pt x="3190341" y="294993"/>
                    <a:pt x="3180451" y="294993"/>
                  </a:cubicBezTo>
                  <a:lnTo>
                    <a:pt x="37288" y="294993"/>
                  </a:lnTo>
                  <a:cubicBezTo>
                    <a:pt x="16694" y="294993"/>
                    <a:pt x="0" y="278299"/>
                    <a:pt x="0" y="257705"/>
                  </a:cubicBezTo>
                  <a:lnTo>
                    <a:pt x="0" y="37288"/>
                  </a:lnTo>
                  <a:cubicBezTo>
                    <a:pt x="0" y="16694"/>
                    <a:pt x="16694" y="0"/>
                    <a:pt x="37288" y="0"/>
                  </a:cubicBezTo>
                  <a:close/>
                </a:path>
              </a:pathLst>
            </a:custGeom>
            <a:ln w="19050" cap="rnd">
              <a:solidFill>
                <a:srgbClr val="00B58F"/>
              </a:solidFill>
              <a:prstDash val="solid"/>
              <a:round/>
            </a:ln>
          </p:spPr>
        </p:sp>
        <p:sp>
          <p:nvSpPr>
            <p:cNvPr name="TextBox 21" id="21"/>
            <p:cNvSpPr txBox="true"/>
            <p:nvPr/>
          </p:nvSpPr>
          <p:spPr>
            <a:xfrm>
              <a:off x="0" y="-38100"/>
              <a:ext cx="3217739" cy="333093"/>
            </a:xfrm>
            <a:prstGeom prst="rect">
              <a:avLst/>
            </a:prstGeom>
          </p:spPr>
          <p:txBody>
            <a:bodyPr anchor="ctr" rtlCol="false" tIns="50800" lIns="50800" bIns="50800" rIns="50800"/>
            <a:lstStyle/>
            <a:p>
              <a:pPr algn="ctr">
                <a:lnSpc>
                  <a:spcPts val="2659"/>
                </a:lnSpc>
                <a:spcBef>
                  <a:spcPct val="0"/>
                </a:spcBef>
              </a:pPr>
            </a:p>
          </p:txBody>
        </p:sp>
      </p:grpSp>
      <p:sp>
        <p:nvSpPr>
          <p:cNvPr name="TextBox 22" id="22"/>
          <p:cNvSpPr txBox="true"/>
          <p:nvPr/>
        </p:nvSpPr>
        <p:spPr>
          <a:xfrm rot="0">
            <a:off x="190703" y="4160960"/>
            <a:ext cx="9343672" cy="848360"/>
          </a:xfrm>
          <a:prstGeom prst="rect">
            <a:avLst/>
          </a:prstGeom>
        </p:spPr>
        <p:txBody>
          <a:bodyPr anchor="t" rtlCol="false" tIns="0" lIns="0" bIns="0" rIns="0">
            <a:spAutoFit/>
          </a:bodyPr>
          <a:lstStyle/>
          <a:p>
            <a:pPr algn="l">
              <a:lnSpc>
                <a:spcPts val="6399"/>
              </a:lnSpc>
            </a:pPr>
            <a:r>
              <a:rPr lang="en-US" sz="6399">
                <a:solidFill>
                  <a:srgbClr val="0B132B"/>
                </a:solidFill>
                <a:latin typeface="Rubik One"/>
                <a:ea typeface="Rubik One"/>
                <a:cs typeface="Rubik One"/>
                <a:sym typeface="Rubik One"/>
              </a:rPr>
              <a:t>INTRODUCTION</a:t>
            </a:r>
          </a:p>
        </p:txBody>
      </p:sp>
      <p:sp>
        <p:nvSpPr>
          <p:cNvPr name="TextBox 23" id="23"/>
          <p:cNvSpPr txBox="true"/>
          <p:nvPr/>
        </p:nvSpPr>
        <p:spPr>
          <a:xfrm rot="0">
            <a:off x="-1443789" y="772332"/>
            <a:ext cx="8586778" cy="612776"/>
          </a:xfrm>
          <a:prstGeom prst="rect">
            <a:avLst/>
          </a:prstGeom>
        </p:spPr>
        <p:txBody>
          <a:bodyPr anchor="t" rtlCol="false" tIns="0" lIns="0" bIns="0" rIns="0">
            <a:spAutoFit/>
          </a:bodyPr>
          <a:lstStyle/>
          <a:p>
            <a:pPr algn="ctr">
              <a:lnSpc>
                <a:spcPts val="4952"/>
              </a:lnSpc>
              <a:spcBef>
                <a:spcPct val="0"/>
              </a:spcBef>
            </a:pPr>
            <a:r>
              <a:rPr lang="en-US" sz="3537">
                <a:solidFill>
                  <a:srgbClr val="0B132B"/>
                </a:solidFill>
                <a:latin typeface="Rubik Bubbles"/>
                <a:ea typeface="Rubik Bubbles"/>
                <a:cs typeface="Rubik Bubbles"/>
                <a:sym typeface="Rubik Bubbles"/>
              </a:rPr>
              <a:t>PROBLEM STATEMENT</a:t>
            </a:r>
          </a:p>
        </p:txBody>
      </p:sp>
      <p:sp>
        <p:nvSpPr>
          <p:cNvPr name="TextBox 24" id="24"/>
          <p:cNvSpPr txBox="true"/>
          <p:nvPr/>
        </p:nvSpPr>
        <p:spPr>
          <a:xfrm rot="0">
            <a:off x="0" y="1753068"/>
            <a:ext cx="11532002" cy="1375027"/>
          </a:xfrm>
          <a:prstGeom prst="rect">
            <a:avLst/>
          </a:prstGeom>
        </p:spPr>
        <p:txBody>
          <a:bodyPr anchor="t" rtlCol="false" tIns="0" lIns="0" bIns="0" rIns="0">
            <a:spAutoFit/>
          </a:bodyPr>
          <a:lstStyle/>
          <a:p>
            <a:pPr algn="ctr">
              <a:lnSpc>
                <a:spcPts val="3696"/>
              </a:lnSpc>
              <a:spcBef>
                <a:spcPct val="0"/>
              </a:spcBef>
            </a:pPr>
            <a:r>
              <a:rPr lang="en-US" sz="2640">
                <a:solidFill>
                  <a:srgbClr val="0B132B"/>
                </a:solidFill>
                <a:latin typeface="Bricolage Grotesque"/>
                <a:ea typeface="Bricolage Grotesque"/>
                <a:cs typeface="Bricolage Grotesque"/>
                <a:sym typeface="Bricolage Grotesque"/>
              </a:rPr>
              <a:t>To design and simulate a battery charging system using different charging methods to achieve fast ,efficient, and safe , charging of lithium ion battery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9318546" y="2348142"/>
            <a:ext cx="8635524" cy="3388827"/>
            <a:chOff x="0" y="0"/>
            <a:chExt cx="1874657" cy="735669"/>
          </a:xfrm>
        </p:grpSpPr>
        <p:sp>
          <p:nvSpPr>
            <p:cNvPr name="Freeform 3" id="3"/>
            <p:cNvSpPr/>
            <p:nvPr/>
          </p:nvSpPr>
          <p:spPr>
            <a:xfrm flipH="false" flipV="false" rot="0">
              <a:off x="0" y="0"/>
              <a:ext cx="1874657" cy="735669"/>
            </a:xfrm>
            <a:custGeom>
              <a:avLst/>
              <a:gdLst/>
              <a:ahLst/>
              <a:cxnLst/>
              <a:rect r="r" b="b" t="t" l="l"/>
              <a:pathLst>
                <a:path h="735669" w="1874657">
                  <a:moveTo>
                    <a:pt x="17930" y="0"/>
                  </a:moveTo>
                  <a:lnTo>
                    <a:pt x="1856727" y="0"/>
                  </a:lnTo>
                  <a:cubicBezTo>
                    <a:pt x="1861482" y="0"/>
                    <a:pt x="1866043" y="1889"/>
                    <a:pt x="1869405" y="5252"/>
                  </a:cubicBezTo>
                  <a:cubicBezTo>
                    <a:pt x="1872768" y="8614"/>
                    <a:pt x="1874657" y="13175"/>
                    <a:pt x="1874657" y="17930"/>
                  </a:cubicBezTo>
                  <a:lnTo>
                    <a:pt x="1874657" y="717739"/>
                  </a:lnTo>
                  <a:cubicBezTo>
                    <a:pt x="1874657" y="722494"/>
                    <a:pt x="1872768" y="727055"/>
                    <a:pt x="1869405" y="730418"/>
                  </a:cubicBezTo>
                  <a:cubicBezTo>
                    <a:pt x="1866043" y="733780"/>
                    <a:pt x="1861482" y="735669"/>
                    <a:pt x="1856727" y="735669"/>
                  </a:cubicBezTo>
                  <a:lnTo>
                    <a:pt x="17930" y="735669"/>
                  </a:lnTo>
                  <a:cubicBezTo>
                    <a:pt x="13175" y="735669"/>
                    <a:pt x="8614" y="733780"/>
                    <a:pt x="5252" y="730418"/>
                  </a:cubicBezTo>
                  <a:cubicBezTo>
                    <a:pt x="1889" y="727055"/>
                    <a:pt x="0" y="722494"/>
                    <a:pt x="0" y="717739"/>
                  </a:cubicBezTo>
                  <a:lnTo>
                    <a:pt x="0" y="17930"/>
                  </a:lnTo>
                  <a:cubicBezTo>
                    <a:pt x="0" y="13175"/>
                    <a:pt x="1889" y="8614"/>
                    <a:pt x="5252" y="5252"/>
                  </a:cubicBezTo>
                  <a:cubicBezTo>
                    <a:pt x="8614" y="1889"/>
                    <a:pt x="13175" y="0"/>
                    <a:pt x="17930" y="0"/>
                  </a:cubicBezTo>
                  <a:close/>
                </a:path>
              </a:pathLst>
            </a:custGeom>
            <a:solidFill>
              <a:srgbClr val="00B58F"/>
            </a:solidFill>
            <a:ln cap="sq">
              <a:noFill/>
              <a:prstDash val="solid"/>
              <a:miter/>
            </a:ln>
          </p:spPr>
        </p:sp>
        <p:sp>
          <p:nvSpPr>
            <p:cNvPr name="TextBox 4" id="4"/>
            <p:cNvSpPr txBox="true"/>
            <p:nvPr/>
          </p:nvSpPr>
          <p:spPr>
            <a:xfrm>
              <a:off x="0" y="-38100"/>
              <a:ext cx="1874657" cy="773769"/>
            </a:xfrm>
            <a:prstGeom prst="rect">
              <a:avLst/>
            </a:prstGeom>
          </p:spPr>
          <p:txBody>
            <a:bodyPr anchor="ctr" rtlCol="false" tIns="50800" lIns="50800" bIns="50800" rIns="50800"/>
            <a:lstStyle/>
            <a:p>
              <a:pPr algn="ctr" marL="410209" indent="-205105" lvl="1">
                <a:lnSpc>
                  <a:spcPts val="2659"/>
                </a:lnSpc>
                <a:buFont typeface="Arial"/>
                <a:buChar char="•"/>
              </a:pPr>
            </a:p>
            <a:p>
              <a:pPr algn="ctr">
                <a:lnSpc>
                  <a:spcPts val="2659"/>
                </a:lnSpc>
                <a:spcBef>
                  <a:spcPct val="0"/>
                </a:spcBef>
              </a:pPr>
            </a:p>
          </p:txBody>
        </p:sp>
      </p:grpSp>
      <p:grpSp>
        <p:nvGrpSpPr>
          <p:cNvPr name="Group 5" id="5"/>
          <p:cNvGrpSpPr/>
          <p:nvPr/>
        </p:nvGrpSpPr>
        <p:grpSpPr>
          <a:xfrm rot="0">
            <a:off x="9318546" y="6410236"/>
            <a:ext cx="8635524" cy="3388827"/>
            <a:chOff x="0" y="0"/>
            <a:chExt cx="1874657" cy="735669"/>
          </a:xfrm>
        </p:grpSpPr>
        <p:sp>
          <p:nvSpPr>
            <p:cNvPr name="Freeform 6" id="6"/>
            <p:cNvSpPr/>
            <p:nvPr/>
          </p:nvSpPr>
          <p:spPr>
            <a:xfrm flipH="false" flipV="false" rot="0">
              <a:off x="0" y="0"/>
              <a:ext cx="1874657" cy="735669"/>
            </a:xfrm>
            <a:custGeom>
              <a:avLst/>
              <a:gdLst/>
              <a:ahLst/>
              <a:cxnLst/>
              <a:rect r="r" b="b" t="t" l="l"/>
              <a:pathLst>
                <a:path h="735669" w="1874657">
                  <a:moveTo>
                    <a:pt x="17930" y="0"/>
                  </a:moveTo>
                  <a:lnTo>
                    <a:pt x="1856727" y="0"/>
                  </a:lnTo>
                  <a:cubicBezTo>
                    <a:pt x="1861482" y="0"/>
                    <a:pt x="1866043" y="1889"/>
                    <a:pt x="1869405" y="5252"/>
                  </a:cubicBezTo>
                  <a:cubicBezTo>
                    <a:pt x="1872768" y="8614"/>
                    <a:pt x="1874657" y="13175"/>
                    <a:pt x="1874657" y="17930"/>
                  </a:cubicBezTo>
                  <a:lnTo>
                    <a:pt x="1874657" y="717739"/>
                  </a:lnTo>
                  <a:cubicBezTo>
                    <a:pt x="1874657" y="722494"/>
                    <a:pt x="1872768" y="727055"/>
                    <a:pt x="1869405" y="730418"/>
                  </a:cubicBezTo>
                  <a:cubicBezTo>
                    <a:pt x="1866043" y="733780"/>
                    <a:pt x="1861482" y="735669"/>
                    <a:pt x="1856727" y="735669"/>
                  </a:cubicBezTo>
                  <a:lnTo>
                    <a:pt x="17930" y="735669"/>
                  </a:lnTo>
                  <a:cubicBezTo>
                    <a:pt x="13175" y="735669"/>
                    <a:pt x="8614" y="733780"/>
                    <a:pt x="5252" y="730418"/>
                  </a:cubicBezTo>
                  <a:cubicBezTo>
                    <a:pt x="1889" y="727055"/>
                    <a:pt x="0" y="722494"/>
                    <a:pt x="0" y="717739"/>
                  </a:cubicBezTo>
                  <a:lnTo>
                    <a:pt x="0" y="17930"/>
                  </a:lnTo>
                  <a:cubicBezTo>
                    <a:pt x="0" y="13175"/>
                    <a:pt x="1889" y="8614"/>
                    <a:pt x="5252" y="5252"/>
                  </a:cubicBezTo>
                  <a:cubicBezTo>
                    <a:pt x="8614" y="1889"/>
                    <a:pt x="13175" y="0"/>
                    <a:pt x="17930" y="0"/>
                  </a:cubicBezTo>
                  <a:close/>
                </a:path>
              </a:pathLst>
            </a:custGeom>
            <a:solidFill>
              <a:srgbClr val="00B58F"/>
            </a:solidFill>
            <a:ln cap="sq">
              <a:noFill/>
              <a:prstDash val="solid"/>
              <a:miter/>
            </a:ln>
          </p:spPr>
        </p:sp>
        <p:sp>
          <p:nvSpPr>
            <p:cNvPr name="TextBox 7" id="7"/>
            <p:cNvSpPr txBox="true"/>
            <p:nvPr/>
          </p:nvSpPr>
          <p:spPr>
            <a:xfrm>
              <a:off x="0" y="-38100"/>
              <a:ext cx="1874657" cy="773769"/>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8446448" y="1028700"/>
            <a:ext cx="7442961" cy="581952"/>
            <a:chOff x="0" y="0"/>
            <a:chExt cx="5095792" cy="398431"/>
          </a:xfrm>
        </p:grpSpPr>
        <p:sp>
          <p:nvSpPr>
            <p:cNvPr name="Freeform 9" id="9"/>
            <p:cNvSpPr/>
            <p:nvPr/>
          </p:nvSpPr>
          <p:spPr>
            <a:xfrm flipH="false" flipV="false" rot="0">
              <a:off x="6045" y="0"/>
              <a:ext cx="5083701" cy="398431"/>
            </a:xfrm>
            <a:custGeom>
              <a:avLst/>
              <a:gdLst/>
              <a:ahLst/>
              <a:cxnLst/>
              <a:rect r="r" b="b" t="t" l="l"/>
              <a:pathLst>
                <a:path h="398431" w="5083701">
                  <a:moveTo>
                    <a:pt x="212758" y="0"/>
                  </a:moveTo>
                  <a:lnTo>
                    <a:pt x="5074144" y="0"/>
                  </a:lnTo>
                  <a:cubicBezTo>
                    <a:pt x="5077470" y="0"/>
                    <a:pt x="5080557" y="1729"/>
                    <a:pt x="5082294" y="4565"/>
                  </a:cubicBezTo>
                  <a:cubicBezTo>
                    <a:pt x="5084031" y="7401"/>
                    <a:pt x="5084169" y="10936"/>
                    <a:pt x="5082658" y="13899"/>
                  </a:cubicBezTo>
                  <a:lnTo>
                    <a:pt x="4893635" y="384532"/>
                  </a:lnTo>
                  <a:cubicBezTo>
                    <a:pt x="4889285" y="393061"/>
                    <a:pt x="4880519" y="398431"/>
                    <a:pt x="4870944" y="398431"/>
                  </a:cubicBezTo>
                  <a:lnTo>
                    <a:pt x="9558" y="398431"/>
                  </a:lnTo>
                  <a:cubicBezTo>
                    <a:pt x="6232" y="398431"/>
                    <a:pt x="3145" y="396702"/>
                    <a:pt x="1408" y="393866"/>
                  </a:cubicBezTo>
                  <a:cubicBezTo>
                    <a:pt x="-329" y="391030"/>
                    <a:pt x="-467" y="387494"/>
                    <a:pt x="1044" y="384532"/>
                  </a:cubicBezTo>
                  <a:lnTo>
                    <a:pt x="190066" y="13899"/>
                  </a:lnTo>
                  <a:cubicBezTo>
                    <a:pt x="194417" y="5370"/>
                    <a:pt x="203183" y="0"/>
                    <a:pt x="212758" y="0"/>
                  </a:cubicBezTo>
                  <a:close/>
                </a:path>
              </a:pathLst>
            </a:custGeom>
            <a:solidFill>
              <a:srgbClr val="EDF6F9"/>
            </a:solidFill>
          </p:spPr>
        </p:sp>
        <p:sp>
          <p:nvSpPr>
            <p:cNvPr name="TextBox 10" id="10"/>
            <p:cNvSpPr txBox="true"/>
            <p:nvPr/>
          </p:nvSpPr>
          <p:spPr>
            <a:xfrm>
              <a:off x="101600" y="-38100"/>
              <a:ext cx="4892592" cy="436531"/>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875585" y="9456153"/>
            <a:ext cx="7442961" cy="581952"/>
            <a:chOff x="0" y="0"/>
            <a:chExt cx="5095792" cy="398431"/>
          </a:xfrm>
        </p:grpSpPr>
        <p:sp>
          <p:nvSpPr>
            <p:cNvPr name="Freeform 12" id="12"/>
            <p:cNvSpPr/>
            <p:nvPr/>
          </p:nvSpPr>
          <p:spPr>
            <a:xfrm flipH="false" flipV="false" rot="0">
              <a:off x="6045" y="0"/>
              <a:ext cx="5083701" cy="398431"/>
            </a:xfrm>
            <a:custGeom>
              <a:avLst/>
              <a:gdLst/>
              <a:ahLst/>
              <a:cxnLst/>
              <a:rect r="r" b="b" t="t" l="l"/>
              <a:pathLst>
                <a:path h="398431" w="5083701">
                  <a:moveTo>
                    <a:pt x="212758" y="0"/>
                  </a:moveTo>
                  <a:lnTo>
                    <a:pt x="5074144" y="0"/>
                  </a:lnTo>
                  <a:cubicBezTo>
                    <a:pt x="5077470" y="0"/>
                    <a:pt x="5080557" y="1729"/>
                    <a:pt x="5082294" y="4565"/>
                  </a:cubicBezTo>
                  <a:cubicBezTo>
                    <a:pt x="5084031" y="7401"/>
                    <a:pt x="5084169" y="10936"/>
                    <a:pt x="5082658" y="13899"/>
                  </a:cubicBezTo>
                  <a:lnTo>
                    <a:pt x="4893635" y="384532"/>
                  </a:lnTo>
                  <a:cubicBezTo>
                    <a:pt x="4889285" y="393061"/>
                    <a:pt x="4880519" y="398431"/>
                    <a:pt x="4870944" y="398431"/>
                  </a:cubicBezTo>
                  <a:lnTo>
                    <a:pt x="9558" y="398431"/>
                  </a:lnTo>
                  <a:cubicBezTo>
                    <a:pt x="6232" y="398431"/>
                    <a:pt x="3145" y="396702"/>
                    <a:pt x="1408" y="393866"/>
                  </a:cubicBezTo>
                  <a:cubicBezTo>
                    <a:pt x="-329" y="391030"/>
                    <a:pt x="-467" y="387494"/>
                    <a:pt x="1044" y="384532"/>
                  </a:cubicBezTo>
                  <a:lnTo>
                    <a:pt x="190066" y="13899"/>
                  </a:lnTo>
                  <a:cubicBezTo>
                    <a:pt x="194417" y="5370"/>
                    <a:pt x="203183" y="0"/>
                    <a:pt x="212758" y="0"/>
                  </a:cubicBezTo>
                  <a:close/>
                </a:path>
              </a:pathLst>
            </a:custGeom>
            <a:solidFill>
              <a:srgbClr val="EDF6F9"/>
            </a:solidFill>
          </p:spPr>
        </p:sp>
        <p:sp>
          <p:nvSpPr>
            <p:cNvPr name="TextBox 13" id="13"/>
            <p:cNvSpPr txBox="true"/>
            <p:nvPr/>
          </p:nvSpPr>
          <p:spPr>
            <a:xfrm>
              <a:off x="101600" y="-38100"/>
              <a:ext cx="4892592" cy="436531"/>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499565" y="2887590"/>
            <a:ext cx="7184884" cy="2588646"/>
            <a:chOff x="0" y="0"/>
            <a:chExt cx="1855826" cy="668637"/>
          </a:xfrm>
        </p:grpSpPr>
        <p:sp>
          <p:nvSpPr>
            <p:cNvPr name="Freeform 15" id="15"/>
            <p:cNvSpPr/>
            <p:nvPr/>
          </p:nvSpPr>
          <p:spPr>
            <a:xfrm flipH="false" flipV="false" rot="0">
              <a:off x="0" y="0"/>
              <a:ext cx="1855826" cy="668637"/>
            </a:xfrm>
            <a:custGeom>
              <a:avLst/>
              <a:gdLst/>
              <a:ahLst/>
              <a:cxnLst/>
              <a:rect r="r" b="b" t="t" l="l"/>
              <a:pathLst>
                <a:path h="668637" w="1855826">
                  <a:moveTo>
                    <a:pt x="64652" y="0"/>
                  </a:moveTo>
                  <a:lnTo>
                    <a:pt x="1791174" y="0"/>
                  </a:lnTo>
                  <a:cubicBezTo>
                    <a:pt x="1808321" y="0"/>
                    <a:pt x="1824766" y="6812"/>
                    <a:pt x="1836890" y="18936"/>
                  </a:cubicBezTo>
                  <a:cubicBezTo>
                    <a:pt x="1849015" y="31061"/>
                    <a:pt x="1855826" y="47505"/>
                    <a:pt x="1855826" y="64652"/>
                  </a:cubicBezTo>
                  <a:lnTo>
                    <a:pt x="1855826" y="603985"/>
                  </a:lnTo>
                  <a:cubicBezTo>
                    <a:pt x="1855826" y="621132"/>
                    <a:pt x="1849015" y="637576"/>
                    <a:pt x="1836890" y="649701"/>
                  </a:cubicBezTo>
                  <a:cubicBezTo>
                    <a:pt x="1824766" y="661825"/>
                    <a:pt x="1808321" y="668637"/>
                    <a:pt x="1791174" y="668637"/>
                  </a:cubicBezTo>
                  <a:lnTo>
                    <a:pt x="64652" y="668637"/>
                  </a:lnTo>
                  <a:cubicBezTo>
                    <a:pt x="47505" y="668637"/>
                    <a:pt x="31061" y="661825"/>
                    <a:pt x="18936" y="649701"/>
                  </a:cubicBezTo>
                  <a:cubicBezTo>
                    <a:pt x="6812" y="637576"/>
                    <a:pt x="0" y="621132"/>
                    <a:pt x="0" y="603985"/>
                  </a:cubicBezTo>
                  <a:lnTo>
                    <a:pt x="0" y="64652"/>
                  </a:lnTo>
                  <a:cubicBezTo>
                    <a:pt x="0" y="47505"/>
                    <a:pt x="6812" y="31061"/>
                    <a:pt x="18936" y="18936"/>
                  </a:cubicBezTo>
                  <a:cubicBezTo>
                    <a:pt x="31061" y="6812"/>
                    <a:pt x="47505" y="0"/>
                    <a:pt x="64652" y="0"/>
                  </a:cubicBezTo>
                  <a:close/>
                </a:path>
              </a:pathLst>
            </a:custGeom>
            <a:ln w="19050" cap="rnd">
              <a:solidFill>
                <a:srgbClr val="00B58F"/>
              </a:solidFill>
              <a:prstDash val="solid"/>
              <a:round/>
            </a:ln>
          </p:spPr>
        </p:sp>
        <p:sp>
          <p:nvSpPr>
            <p:cNvPr name="TextBox 16" id="16"/>
            <p:cNvSpPr txBox="true"/>
            <p:nvPr/>
          </p:nvSpPr>
          <p:spPr>
            <a:xfrm>
              <a:off x="0" y="-38100"/>
              <a:ext cx="1855826" cy="706737"/>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743012" y="2596614"/>
            <a:ext cx="6655748" cy="3325395"/>
            <a:chOff x="0" y="0"/>
            <a:chExt cx="8459470" cy="4226584"/>
          </a:xfrm>
        </p:grpSpPr>
        <p:sp>
          <p:nvSpPr>
            <p:cNvPr name="Freeform 18" id="18"/>
            <p:cNvSpPr/>
            <p:nvPr/>
          </p:nvSpPr>
          <p:spPr>
            <a:xfrm flipH="false" flipV="false" rot="0">
              <a:off x="0" y="0"/>
              <a:ext cx="8459470" cy="4225175"/>
            </a:xfrm>
            <a:custGeom>
              <a:avLst/>
              <a:gdLst/>
              <a:ahLst/>
              <a:cxnLst/>
              <a:rect r="r" b="b" t="t" l="l"/>
              <a:pathLst>
                <a:path h="4225175" w="8459470">
                  <a:moveTo>
                    <a:pt x="458470" y="0"/>
                  </a:moveTo>
                  <a:lnTo>
                    <a:pt x="8001000" y="0"/>
                  </a:lnTo>
                  <a:cubicBezTo>
                    <a:pt x="8255000" y="0"/>
                    <a:pt x="8459470" y="228236"/>
                    <a:pt x="8459470" y="508599"/>
                  </a:cubicBezTo>
                  <a:lnTo>
                    <a:pt x="8459470" y="2573990"/>
                  </a:lnTo>
                  <a:cubicBezTo>
                    <a:pt x="8459470" y="2719102"/>
                    <a:pt x="8403590" y="2858580"/>
                    <a:pt x="8304530" y="2954382"/>
                  </a:cubicBezTo>
                  <a:lnTo>
                    <a:pt x="7141210" y="4096969"/>
                  </a:lnTo>
                  <a:cubicBezTo>
                    <a:pt x="7057390" y="4180091"/>
                    <a:pt x="6949440" y="4225175"/>
                    <a:pt x="6836410" y="4225175"/>
                  </a:cubicBezTo>
                  <a:lnTo>
                    <a:pt x="3760470" y="4225175"/>
                  </a:lnTo>
                  <a:cubicBezTo>
                    <a:pt x="3506470" y="4225175"/>
                    <a:pt x="3302000" y="3996939"/>
                    <a:pt x="3302000" y="3716576"/>
                  </a:cubicBezTo>
                  <a:lnTo>
                    <a:pt x="3302000" y="3579916"/>
                  </a:lnTo>
                  <a:cubicBezTo>
                    <a:pt x="3302000" y="3298144"/>
                    <a:pt x="3096260" y="3071318"/>
                    <a:pt x="2843530" y="3071318"/>
                  </a:cubicBezTo>
                  <a:lnTo>
                    <a:pt x="458470" y="3071318"/>
                  </a:lnTo>
                  <a:cubicBezTo>
                    <a:pt x="205740" y="3071318"/>
                    <a:pt x="0" y="2843082"/>
                    <a:pt x="0" y="2562719"/>
                  </a:cubicBezTo>
                  <a:lnTo>
                    <a:pt x="0" y="508599"/>
                  </a:lnTo>
                  <a:cubicBezTo>
                    <a:pt x="0" y="228236"/>
                    <a:pt x="205740" y="0"/>
                    <a:pt x="458470" y="0"/>
                  </a:cubicBezTo>
                  <a:close/>
                </a:path>
              </a:pathLst>
            </a:custGeom>
            <a:blipFill>
              <a:blip r:embed="rId2"/>
              <a:stretch>
                <a:fillRect l="0" t="-6242" r="0" b="-6242"/>
              </a:stretch>
            </a:blipFill>
          </p:spPr>
        </p:sp>
      </p:grpSp>
      <p:sp>
        <p:nvSpPr>
          <p:cNvPr name="TextBox 19" id="19"/>
          <p:cNvSpPr txBox="true"/>
          <p:nvPr/>
        </p:nvSpPr>
        <p:spPr>
          <a:xfrm rot="0">
            <a:off x="1426180" y="1490762"/>
            <a:ext cx="6658318" cy="848360"/>
          </a:xfrm>
          <a:prstGeom prst="rect">
            <a:avLst/>
          </a:prstGeom>
        </p:spPr>
        <p:txBody>
          <a:bodyPr anchor="t" rtlCol="false" tIns="0" lIns="0" bIns="0" rIns="0">
            <a:spAutoFit/>
          </a:bodyPr>
          <a:lstStyle/>
          <a:p>
            <a:pPr algn="l">
              <a:lnSpc>
                <a:spcPts val="6399"/>
              </a:lnSpc>
            </a:pPr>
            <a:r>
              <a:rPr lang="en-US" sz="6399">
                <a:solidFill>
                  <a:srgbClr val="0B132B"/>
                </a:solidFill>
                <a:latin typeface="Rubik One"/>
                <a:ea typeface="Rubik One"/>
                <a:cs typeface="Rubik One"/>
                <a:sym typeface="Rubik One"/>
              </a:rPr>
              <a:t>MOTIVATION</a:t>
            </a:r>
          </a:p>
        </p:txBody>
      </p:sp>
      <p:grpSp>
        <p:nvGrpSpPr>
          <p:cNvPr name="Group 20" id="20"/>
          <p:cNvGrpSpPr/>
          <p:nvPr/>
        </p:nvGrpSpPr>
        <p:grpSpPr>
          <a:xfrm rot="0">
            <a:off x="-5959063" y="-784283"/>
            <a:ext cx="11785120" cy="1142074"/>
            <a:chOff x="0" y="0"/>
            <a:chExt cx="3044048" cy="294993"/>
          </a:xfrm>
        </p:grpSpPr>
        <p:sp>
          <p:nvSpPr>
            <p:cNvPr name="Freeform 21" id="21"/>
            <p:cNvSpPr/>
            <p:nvPr/>
          </p:nvSpPr>
          <p:spPr>
            <a:xfrm flipH="false" flipV="false" rot="0">
              <a:off x="0" y="0"/>
              <a:ext cx="3044048" cy="294993"/>
            </a:xfrm>
            <a:custGeom>
              <a:avLst/>
              <a:gdLst/>
              <a:ahLst/>
              <a:cxnLst/>
              <a:rect r="r" b="b" t="t" l="l"/>
              <a:pathLst>
                <a:path h="294993" w="3044048">
                  <a:moveTo>
                    <a:pt x="39415" y="0"/>
                  </a:moveTo>
                  <a:lnTo>
                    <a:pt x="3004633" y="0"/>
                  </a:lnTo>
                  <a:cubicBezTo>
                    <a:pt x="3026402" y="0"/>
                    <a:pt x="3044048" y="17647"/>
                    <a:pt x="3044048" y="39415"/>
                  </a:cubicBezTo>
                  <a:lnTo>
                    <a:pt x="3044048" y="255578"/>
                  </a:lnTo>
                  <a:cubicBezTo>
                    <a:pt x="3044048" y="277346"/>
                    <a:pt x="3026402" y="294993"/>
                    <a:pt x="3004633" y="294993"/>
                  </a:cubicBezTo>
                  <a:lnTo>
                    <a:pt x="39415" y="294993"/>
                  </a:lnTo>
                  <a:cubicBezTo>
                    <a:pt x="17647" y="294993"/>
                    <a:pt x="0" y="277346"/>
                    <a:pt x="0" y="255578"/>
                  </a:cubicBezTo>
                  <a:lnTo>
                    <a:pt x="0" y="39415"/>
                  </a:lnTo>
                  <a:cubicBezTo>
                    <a:pt x="0" y="17647"/>
                    <a:pt x="17647" y="0"/>
                    <a:pt x="39415" y="0"/>
                  </a:cubicBezTo>
                  <a:close/>
                </a:path>
              </a:pathLst>
            </a:custGeom>
            <a:ln w="19050" cap="rnd">
              <a:solidFill>
                <a:srgbClr val="00B58F"/>
              </a:solidFill>
              <a:prstDash val="solid"/>
              <a:round/>
            </a:ln>
          </p:spPr>
        </p:sp>
        <p:sp>
          <p:nvSpPr>
            <p:cNvPr name="TextBox 22" id="22"/>
            <p:cNvSpPr txBox="true"/>
            <p:nvPr/>
          </p:nvSpPr>
          <p:spPr>
            <a:xfrm>
              <a:off x="0" y="-38100"/>
              <a:ext cx="3044048"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0">
            <a:off x="135335" y="6410236"/>
            <a:ext cx="8635524" cy="3388827"/>
            <a:chOff x="0" y="0"/>
            <a:chExt cx="1874657" cy="735669"/>
          </a:xfrm>
        </p:grpSpPr>
        <p:sp>
          <p:nvSpPr>
            <p:cNvPr name="Freeform 24" id="24"/>
            <p:cNvSpPr/>
            <p:nvPr/>
          </p:nvSpPr>
          <p:spPr>
            <a:xfrm flipH="false" flipV="false" rot="0">
              <a:off x="0" y="0"/>
              <a:ext cx="1874657" cy="735669"/>
            </a:xfrm>
            <a:custGeom>
              <a:avLst/>
              <a:gdLst/>
              <a:ahLst/>
              <a:cxnLst/>
              <a:rect r="r" b="b" t="t" l="l"/>
              <a:pathLst>
                <a:path h="735669" w="1874657">
                  <a:moveTo>
                    <a:pt x="17930" y="0"/>
                  </a:moveTo>
                  <a:lnTo>
                    <a:pt x="1856727" y="0"/>
                  </a:lnTo>
                  <a:cubicBezTo>
                    <a:pt x="1861482" y="0"/>
                    <a:pt x="1866043" y="1889"/>
                    <a:pt x="1869405" y="5252"/>
                  </a:cubicBezTo>
                  <a:cubicBezTo>
                    <a:pt x="1872768" y="8614"/>
                    <a:pt x="1874657" y="13175"/>
                    <a:pt x="1874657" y="17930"/>
                  </a:cubicBezTo>
                  <a:lnTo>
                    <a:pt x="1874657" y="717739"/>
                  </a:lnTo>
                  <a:cubicBezTo>
                    <a:pt x="1874657" y="722494"/>
                    <a:pt x="1872768" y="727055"/>
                    <a:pt x="1869405" y="730418"/>
                  </a:cubicBezTo>
                  <a:cubicBezTo>
                    <a:pt x="1866043" y="733780"/>
                    <a:pt x="1861482" y="735669"/>
                    <a:pt x="1856727" y="735669"/>
                  </a:cubicBezTo>
                  <a:lnTo>
                    <a:pt x="17930" y="735669"/>
                  </a:lnTo>
                  <a:cubicBezTo>
                    <a:pt x="13175" y="735669"/>
                    <a:pt x="8614" y="733780"/>
                    <a:pt x="5252" y="730418"/>
                  </a:cubicBezTo>
                  <a:cubicBezTo>
                    <a:pt x="1889" y="727055"/>
                    <a:pt x="0" y="722494"/>
                    <a:pt x="0" y="717739"/>
                  </a:cubicBezTo>
                  <a:lnTo>
                    <a:pt x="0" y="17930"/>
                  </a:lnTo>
                  <a:cubicBezTo>
                    <a:pt x="0" y="13175"/>
                    <a:pt x="1889" y="8614"/>
                    <a:pt x="5252" y="5252"/>
                  </a:cubicBezTo>
                  <a:cubicBezTo>
                    <a:pt x="8614" y="1889"/>
                    <a:pt x="13175" y="0"/>
                    <a:pt x="17930" y="0"/>
                  </a:cubicBezTo>
                  <a:close/>
                </a:path>
              </a:pathLst>
            </a:custGeom>
            <a:solidFill>
              <a:srgbClr val="00B58F"/>
            </a:solidFill>
            <a:ln cap="sq">
              <a:noFill/>
              <a:prstDash val="solid"/>
              <a:miter/>
            </a:ln>
          </p:spPr>
        </p:sp>
        <p:sp>
          <p:nvSpPr>
            <p:cNvPr name="TextBox 25" id="25"/>
            <p:cNvSpPr txBox="true"/>
            <p:nvPr/>
          </p:nvSpPr>
          <p:spPr>
            <a:xfrm>
              <a:off x="0" y="-38100"/>
              <a:ext cx="1874657" cy="773769"/>
            </a:xfrm>
            <a:prstGeom prst="rect">
              <a:avLst/>
            </a:prstGeom>
          </p:spPr>
          <p:txBody>
            <a:bodyPr anchor="ctr" rtlCol="false" tIns="50800" lIns="50800" bIns="50800" rIns="50800"/>
            <a:lstStyle/>
            <a:p>
              <a:pPr algn="ctr">
                <a:lnSpc>
                  <a:spcPts val="2659"/>
                </a:lnSpc>
                <a:spcBef>
                  <a:spcPct val="0"/>
                </a:spcBef>
              </a:pPr>
            </a:p>
          </p:txBody>
        </p:sp>
      </p:grpSp>
      <p:sp>
        <p:nvSpPr>
          <p:cNvPr name="TextBox 26" id="26"/>
          <p:cNvSpPr txBox="true"/>
          <p:nvPr/>
        </p:nvSpPr>
        <p:spPr>
          <a:xfrm rot="0">
            <a:off x="9388744" y="2539464"/>
            <a:ext cx="8495127" cy="2415567"/>
          </a:xfrm>
          <a:prstGeom prst="rect">
            <a:avLst/>
          </a:prstGeom>
        </p:spPr>
        <p:txBody>
          <a:bodyPr anchor="t" rtlCol="false" tIns="0" lIns="0" bIns="0" rIns="0">
            <a:spAutoFit/>
          </a:bodyPr>
          <a:lstStyle/>
          <a:p>
            <a:pPr algn="ctr">
              <a:lnSpc>
                <a:spcPts val="3883"/>
              </a:lnSpc>
            </a:pPr>
          </a:p>
          <a:p>
            <a:pPr algn="ctr" marL="598896" indent="-299448" lvl="1">
              <a:lnSpc>
                <a:spcPts val="3883"/>
              </a:lnSpc>
              <a:buFont typeface="Arial"/>
              <a:buChar char="•"/>
            </a:pPr>
            <a:r>
              <a:rPr lang="en-US" b="true" sz="2773">
                <a:solidFill>
                  <a:srgbClr val="EDF6F9"/>
                </a:solidFill>
                <a:latin typeface="Bricolage Grotesque Bold"/>
                <a:ea typeface="Bricolage Grotesque Bold"/>
                <a:cs typeface="Bricolage Grotesque Bold"/>
                <a:sym typeface="Bricolage Grotesque Bold"/>
              </a:rPr>
              <a:t>The increasing use of rechargeable batteries in EVs and electronics requires efficient and safe charging methods.</a:t>
            </a:r>
          </a:p>
          <a:p>
            <a:pPr algn="ctr">
              <a:lnSpc>
                <a:spcPts val="3883"/>
              </a:lnSpc>
              <a:spcBef>
                <a:spcPct val="0"/>
              </a:spcBef>
            </a:pPr>
          </a:p>
        </p:txBody>
      </p:sp>
      <p:sp>
        <p:nvSpPr>
          <p:cNvPr name="TextBox 27" id="27"/>
          <p:cNvSpPr txBox="true"/>
          <p:nvPr/>
        </p:nvSpPr>
        <p:spPr>
          <a:xfrm rot="0">
            <a:off x="213209" y="7122159"/>
            <a:ext cx="8479776" cy="1888782"/>
          </a:xfrm>
          <a:prstGeom prst="rect">
            <a:avLst/>
          </a:prstGeom>
        </p:spPr>
        <p:txBody>
          <a:bodyPr anchor="t" rtlCol="false" tIns="0" lIns="0" bIns="0" rIns="0">
            <a:spAutoFit/>
          </a:bodyPr>
          <a:lstStyle/>
          <a:p>
            <a:pPr algn="ctr">
              <a:lnSpc>
                <a:spcPts val="5065"/>
              </a:lnSpc>
              <a:spcBef>
                <a:spcPct val="0"/>
              </a:spcBef>
            </a:pPr>
            <a:r>
              <a:rPr lang="en-US" sz="3618">
                <a:solidFill>
                  <a:srgbClr val="EDF6F9"/>
                </a:solidFill>
                <a:latin typeface="Bricolage Grotesque"/>
                <a:ea typeface="Bricolage Grotesque"/>
                <a:cs typeface="Bricolage Grotesque"/>
                <a:sym typeface="Bricolage Grotesque"/>
              </a:rPr>
              <a:t>Diffe</a:t>
            </a:r>
            <a:r>
              <a:rPr lang="en-US" sz="3618">
                <a:solidFill>
                  <a:srgbClr val="EDF6F9"/>
                </a:solidFill>
                <a:latin typeface="Bricolage Grotesque"/>
                <a:ea typeface="Bricolage Grotesque"/>
                <a:cs typeface="Bricolage Grotesque"/>
                <a:sym typeface="Bricolage Grotesque"/>
              </a:rPr>
              <a:t>rent charging techniques affect temperature, speed, safety, and battery life in different ways.</a:t>
            </a:r>
          </a:p>
        </p:txBody>
      </p:sp>
      <p:sp>
        <p:nvSpPr>
          <p:cNvPr name="TextBox 28" id="28"/>
          <p:cNvSpPr txBox="true"/>
          <p:nvPr/>
        </p:nvSpPr>
        <p:spPr>
          <a:xfrm rot="0">
            <a:off x="9318546" y="6914849"/>
            <a:ext cx="8635524" cy="1926037"/>
          </a:xfrm>
          <a:prstGeom prst="rect">
            <a:avLst/>
          </a:prstGeom>
        </p:spPr>
        <p:txBody>
          <a:bodyPr anchor="t" rtlCol="false" tIns="0" lIns="0" bIns="0" rIns="0">
            <a:spAutoFit/>
          </a:bodyPr>
          <a:lstStyle/>
          <a:p>
            <a:pPr algn="ctr">
              <a:lnSpc>
                <a:spcPts val="5169"/>
              </a:lnSpc>
              <a:spcBef>
                <a:spcPct val="0"/>
              </a:spcBef>
            </a:pPr>
            <a:r>
              <a:rPr lang="en-US" sz="3692">
                <a:solidFill>
                  <a:srgbClr val="EDF6F9"/>
                </a:solidFill>
                <a:latin typeface="Bricolage Grotesque"/>
                <a:ea typeface="Bricolage Grotesque"/>
                <a:cs typeface="Bricolage Grotesque"/>
                <a:sym typeface="Bricolage Grotesque"/>
              </a:rPr>
              <a:t>Understanding these effects is imp</a:t>
            </a:r>
            <a:r>
              <a:rPr lang="en-US" sz="3692">
                <a:solidFill>
                  <a:srgbClr val="EDF6F9"/>
                </a:solidFill>
                <a:latin typeface="Bricolage Grotesque"/>
                <a:ea typeface="Bricolage Grotesque"/>
                <a:cs typeface="Bricolage Grotesque"/>
                <a:sym typeface="Bricolage Grotesque"/>
              </a:rPr>
              <a:t>ortant to improve battery performance and reliability.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08637"/>
            <a:ext cx="229386" cy="182674"/>
          </a:xfrm>
          <a:custGeom>
            <a:avLst/>
            <a:gdLst/>
            <a:ahLst/>
            <a:cxnLst/>
            <a:rect r="r" b="b" t="t" l="l"/>
            <a:pathLst>
              <a:path h="182674" w="229386">
                <a:moveTo>
                  <a:pt x="0" y="0"/>
                </a:moveTo>
                <a:lnTo>
                  <a:pt x="229386" y="0"/>
                </a:lnTo>
                <a:lnTo>
                  <a:pt x="229386" y="182675"/>
                </a:lnTo>
                <a:lnTo>
                  <a:pt x="0" y="1826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651701" y="2557067"/>
            <a:ext cx="2584266" cy="3007146"/>
            <a:chOff x="0" y="0"/>
            <a:chExt cx="698500" cy="812800"/>
          </a:xfrm>
        </p:grpSpPr>
        <p:sp>
          <p:nvSpPr>
            <p:cNvPr name="Freeform 4" id="4"/>
            <p:cNvSpPr/>
            <p:nvPr/>
          </p:nvSpPr>
          <p:spPr>
            <a:xfrm flipH="false" flipV="false" rot="0">
              <a:off x="0" y="13889"/>
              <a:ext cx="698500" cy="785022"/>
            </a:xfrm>
            <a:custGeom>
              <a:avLst/>
              <a:gdLst/>
              <a:ahLst/>
              <a:cxnLst/>
              <a:rect r="r" b="b" t="t" l="l"/>
              <a:pathLst>
                <a:path h="785022" w="698500">
                  <a:moveTo>
                    <a:pt x="393755" y="12005"/>
                  </a:moveTo>
                  <a:lnTo>
                    <a:pt x="653995" y="163417"/>
                  </a:lnTo>
                  <a:cubicBezTo>
                    <a:pt x="681549" y="179449"/>
                    <a:pt x="698500" y="208922"/>
                    <a:pt x="698500" y="240801"/>
                  </a:cubicBezTo>
                  <a:lnTo>
                    <a:pt x="698500" y="544221"/>
                  </a:lnTo>
                  <a:cubicBezTo>
                    <a:pt x="698500" y="576100"/>
                    <a:pt x="681549" y="605573"/>
                    <a:pt x="653995" y="621605"/>
                  </a:cubicBezTo>
                  <a:lnTo>
                    <a:pt x="393755" y="773017"/>
                  </a:lnTo>
                  <a:cubicBezTo>
                    <a:pt x="366244" y="789024"/>
                    <a:pt x="332256" y="789024"/>
                    <a:pt x="304745" y="773017"/>
                  </a:cubicBezTo>
                  <a:lnTo>
                    <a:pt x="44505" y="621605"/>
                  </a:lnTo>
                  <a:cubicBezTo>
                    <a:pt x="16951" y="605573"/>
                    <a:pt x="0" y="576100"/>
                    <a:pt x="0" y="544221"/>
                  </a:cubicBezTo>
                  <a:lnTo>
                    <a:pt x="0" y="240801"/>
                  </a:lnTo>
                  <a:cubicBezTo>
                    <a:pt x="0" y="208922"/>
                    <a:pt x="16951" y="179449"/>
                    <a:pt x="44505" y="163417"/>
                  </a:cubicBezTo>
                  <a:lnTo>
                    <a:pt x="304745" y="12005"/>
                  </a:lnTo>
                  <a:cubicBezTo>
                    <a:pt x="332256" y="-4002"/>
                    <a:pt x="366244" y="-4002"/>
                    <a:pt x="393755" y="12005"/>
                  </a:cubicBezTo>
                  <a:close/>
                </a:path>
              </a:pathLst>
            </a:custGeom>
            <a:ln w="19050" cap="sq">
              <a:solidFill>
                <a:srgbClr val="00B58F"/>
              </a:solidFill>
              <a:prstDash val="solid"/>
              <a:miter/>
            </a:ln>
          </p:spPr>
        </p:sp>
        <p:sp>
          <p:nvSpPr>
            <p:cNvPr name="TextBox 5" id="5"/>
            <p:cNvSpPr txBox="true"/>
            <p:nvPr/>
          </p:nvSpPr>
          <p:spPr>
            <a:xfrm>
              <a:off x="0" y="101600"/>
              <a:ext cx="698500" cy="5715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604727" y="2538017"/>
            <a:ext cx="2584266" cy="3007146"/>
            <a:chOff x="0" y="0"/>
            <a:chExt cx="698500" cy="812800"/>
          </a:xfrm>
        </p:grpSpPr>
        <p:sp>
          <p:nvSpPr>
            <p:cNvPr name="Freeform 7" id="7"/>
            <p:cNvSpPr/>
            <p:nvPr/>
          </p:nvSpPr>
          <p:spPr>
            <a:xfrm flipH="false" flipV="false" rot="0">
              <a:off x="0" y="13889"/>
              <a:ext cx="698500" cy="785022"/>
            </a:xfrm>
            <a:custGeom>
              <a:avLst/>
              <a:gdLst/>
              <a:ahLst/>
              <a:cxnLst/>
              <a:rect r="r" b="b" t="t" l="l"/>
              <a:pathLst>
                <a:path h="785022" w="698500">
                  <a:moveTo>
                    <a:pt x="393755" y="12005"/>
                  </a:moveTo>
                  <a:lnTo>
                    <a:pt x="653995" y="163417"/>
                  </a:lnTo>
                  <a:cubicBezTo>
                    <a:pt x="681549" y="179449"/>
                    <a:pt x="698500" y="208922"/>
                    <a:pt x="698500" y="240801"/>
                  </a:cubicBezTo>
                  <a:lnTo>
                    <a:pt x="698500" y="544221"/>
                  </a:lnTo>
                  <a:cubicBezTo>
                    <a:pt x="698500" y="576100"/>
                    <a:pt x="681549" y="605573"/>
                    <a:pt x="653995" y="621605"/>
                  </a:cubicBezTo>
                  <a:lnTo>
                    <a:pt x="393755" y="773017"/>
                  </a:lnTo>
                  <a:cubicBezTo>
                    <a:pt x="366244" y="789024"/>
                    <a:pt x="332256" y="789024"/>
                    <a:pt x="304745" y="773017"/>
                  </a:cubicBezTo>
                  <a:lnTo>
                    <a:pt x="44505" y="621605"/>
                  </a:lnTo>
                  <a:cubicBezTo>
                    <a:pt x="16951" y="605573"/>
                    <a:pt x="0" y="576100"/>
                    <a:pt x="0" y="544221"/>
                  </a:cubicBezTo>
                  <a:lnTo>
                    <a:pt x="0" y="240801"/>
                  </a:lnTo>
                  <a:cubicBezTo>
                    <a:pt x="0" y="208922"/>
                    <a:pt x="16951" y="179449"/>
                    <a:pt x="44505" y="163417"/>
                  </a:cubicBezTo>
                  <a:lnTo>
                    <a:pt x="304745" y="12005"/>
                  </a:lnTo>
                  <a:cubicBezTo>
                    <a:pt x="332256" y="-4002"/>
                    <a:pt x="366244" y="-4002"/>
                    <a:pt x="393755" y="12005"/>
                  </a:cubicBezTo>
                  <a:close/>
                </a:path>
              </a:pathLst>
            </a:custGeom>
            <a:ln w="19050" cap="sq">
              <a:solidFill>
                <a:srgbClr val="00B58F"/>
              </a:solidFill>
              <a:prstDash val="solid"/>
              <a:miter/>
            </a:ln>
          </p:spPr>
        </p:sp>
        <p:sp>
          <p:nvSpPr>
            <p:cNvPr name="TextBox 8" id="8"/>
            <p:cNvSpPr txBox="true"/>
            <p:nvPr/>
          </p:nvSpPr>
          <p:spPr>
            <a:xfrm>
              <a:off x="0" y="101600"/>
              <a:ext cx="698500" cy="571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037881" y="5764822"/>
            <a:ext cx="2584266" cy="3007146"/>
            <a:chOff x="0" y="0"/>
            <a:chExt cx="698500" cy="812800"/>
          </a:xfrm>
        </p:grpSpPr>
        <p:sp>
          <p:nvSpPr>
            <p:cNvPr name="Freeform 10" id="10"/>
            <p:cNvSpPr/>
            <p:nvPr/>
          </p:nvSpPr>
          <p:spPr>
            <a:xfrm flipH="false" flipV="false" rot="0">
              <a:off x="0" y="13889"/>
              <a:ext cx="698500" cy="785022"/>
            </a:xfrm>
            <a:custGeom>
              <a:avLst/>
              <a:gdLst/>
              <a:ahLst/>
              <a:cxnLst/>
              <a:rect r="r" b="b" t="t" l="l"/>
              <a:pathLst>
                <a:path h="785022" w="698500">
                  <a:moveTo>
                    <a:pt x="393755" y="12005"/>
                  </a:moveTo>
                  <a:lnTo>
                    <a:pt x="653995" y="163417"/>
                  </a:lnTo>
                  <a:cubicBezTo>
                    <a:pt x="681549" y="179449"/>
                    <a:pt x="698500" y="208922"/>
                    <a:pt x="698500" y="240801"/>
                  </a:cubicBezTo>
                  <a:lnTo>
                    <a:pt x="698500" y="544221"/>
                  </a:lnTo>
                  <a:cubicBezTo>
                    <a:pt x="698500" y="576100"/>
                    <a:pt x="681549" y="605573"/>
                    <a:pt x="653995" y="621605"/>
                  </a:cubicBezTo>
                  <a:lnTo>
                    <a:pt x="393755" y="773017"/>
                  </a:lnTo>
                  <a:cubicBezTo>
                    <a:pt x="366244" y="789024"/>
                    <a:pt x="332256" y="789024"/>
                    <a:pt x="304745" y="773017"/>
                  </a:cubicBezTo>
                  <a:lnTo>
                    <a:pt x="44505" y="621605"/>
                  </a:lnTo>
                  <a:cubicBezTo>
                    <a:pt x="16951" y="605573"/>
                    <a:pt x="0" y="576100"/>
                    <a:pt x="0" y="544221"/>
                  </a:cubicBezTo>
                  <a:lnTo>
                    <a:pt x="0" y="240801"/>
                  </a:lnTo>
                  <a:cubicBezTo>
                    <a:pt x="0" y="208922"/>
                    <a:pt x="16951" y="179449"/>
                    <a:pt x="44505" y="163417"/>
                  </a:cubicBezTo>
                  <a:lnTo>
                    <a:pt x="304745" y="12005"/>
                  </a:lnTo>
                  <a:cubicBezTo>
                    <a:pt x="332256" y="-4002"/>
                    <a:pt x="366244" y="-4002"/>
                    <a:pt x="393755" y="12005"/>
                  </a:cubicBezTo>
                  <a:close/>
                </a:path>
              </a:pathLst>
            </a:custGeom>
            <a:ln w="19050" cap="sq">
              <a:solidFill>
                <a:srgbClr val="00B58F"/>
              </a:solidFill>
              <a:prstDash val="solid"/>
              <a:miter/>
            </a:ln>
          </p:spPr>
        </p:sp>
        <p:sp>
          <p:nvSpPr>
            <p:cNvPr name="TextBox 11" id="11"/>
            <p:cNvSpPr txBox="true"/>
            <p:nvPr/>
          </p:nvSpPr>
          <p:spPr>
            <a:xfrm>
              <a:off x="0" y="101600"/>
              <a:ext cx="698500" cy="5715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5056182" y="5764822"/>
            <a:ext cx="2584266" cy="3007146"/>
            <a:chOff x="0" y="0"/>
            <a:chExt cx="698500" cy="812800"/>
          </a:xfrm>
        </p:grpSpPr>
        <p:sp>
          <p:nvSpPr>
            <p:cNvPr name="Freeform 13" id="13"/>
            <p:cNvSpPr/>
            <p:nvPr/>
          </p:nvSpPr>
          <p:spPr>
            <a:xfrm flipH="false" flipV="false" rot="0">
              <a:off x="0" y="13889"/>
              <a:ext cx="698500" cy="785022"/>
            </a:xfrm>
            <a:custGeom>
              <a:avLst/>
              <a:gdLst/>
              <a:ahLst/>
              <a:cxnLst/>
              <a:rect r="r" b="b" t="t" l="l"/>
              <a:pathLst>
                <a:path h="785022" w="698500">
                  <a:moveTo>
                    <a:pt x="393755" y="12005"/>
                  </a:moveTo>
                  <a:lnTo>
                    <a:pt x="653995" y="163417"/>
                  </a:lnTo>
                  <a:cubicBezTo>
                    <a:pt x="681549" y="179449"/>
                    <a:pt x="698500" y="208922"/>
                    <a:pt x="698500" y="240801"/>
                  </a:cubicBezTo>
                  <a:lnTo>
                    <a:pt x="698500" y="544221"/>
                  </a:lnTo>
                  <a:cubicBezTo>
                    <a:pt x="698500" y="576100"/>
                    <a:pt x="681549" y="605573"/>
                    <a:pt x="653995" y="621605"/>
                  </a:cubicBezTo>
                  <a:lnTo>
                    <a:pt x="393755" y="773017"/>
                  </a:lnTo>
                  <a:cubicBezTo>
                    <a:pt x="366244" y="789024"/>
                    <a:pt x="332256" y="789024"/>
                    <a:pt x="304745" y="773017"/>
                  </a:cubicBezTo>
                  <a:lnTo>
                    <a:pt x="44505" y="621605"/>
                  </a:lnTo>
                  <a:cubicBezTo>
                    <a:pt x="16951" y="605573"/>
                    <a:pt x="0" y="576100"/>
                    <a:pt x="0" y="544221"/>
                  </a:cubicBezTo>
                  <a:lnTo>
                    <a:pt x="0" y="240801"/>
                  </a:lnTo>
                  <a:cubicBezTo>
                    <a:pt x="0" y="208922"/>
                    <a:pt x="16951" y="179449"/>
                    <a:pt x="44505" y="163417"/>
                  </a:cubicBezTo>
                  <a:lnTo>
                    <a:pt x="304745" y="12005"/>
                  </a:lnTo>
                  <a:cubicBezTo>
                    <a:pt x="332256" y="-4002"/>
                    <a:pt x="366244" y="-4002"/>
                    <a:pt x="393755" y="12005"/>
                  </a:cubicBezTo>
                  <a:close/>
                </a:path>
              </a:pathLst>
            </a:custGeom>
            <a:ln w="19050" cap="sq">
              <a:solidFill>
                <a:srgbClr val="00B58F"/>
              </a:solidFill>
              <a:prstDash val="solid"/>
              <a:miter/>
            </a:ln>
          </p:spPr>
        </p:sp>
        <p:sp>
          <p:nvSpPr>
            <p:cNvPr name="TextBox 14" id="14"/>
            <p:cNvSpPr txBox="true"/>
            <p:nvPr/>
          </p:nvSpPr>
          <p:spPr>
            <a:xfrm>
              <a:off x="0" y="101600"/>
              <a:ext cx="698500" cy="571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6872046" y="2576117"/>
            <a:ext cx="2943763" cy="3425469"/>
            <a:chOff x="0" y="0"/>
            <a:chExt cx="698500" cy="812800"/>
          </a:xfrm>
        </p:grpSpPr>
        <p:sp>
          <p:nvSpPr>
            <p:cNvPr name="Freeform 16" id="16"/>
            <p:cNvSpPr/>
            <p:nvPr/>
          </p:nvSpPr>
          <p:spPr>
            <a:xfrm flipH="false" flipV="false" rot="0">
              <a:off x="0" y="12193"/>
              <a:ext cx="698500" cy="788414"/>
            </a:xfrm>
            <a:custGeom>
              <a:avLst/>
              <a:gdLst/>
              <a:ahLst/>
              <a:cxnLst/>
              <a:rect r="r" b="b" t="t" l="l"/>
              <a:pathLst>
                <a:path h="788414" w="698500">
                  <a:moveTo>
                    <a:pt x="388320" y="10539"/>
                  </a:moveTo>
                  <a:lnTo>
                    <a:pt x="659430" y="168275"/>
                  </a:lnTo>
                  <a:cubicBezTo>
                    <a:pt x="683619" y="182349"/>
                    <a:pt x="698500" y="208223"/>
                    <a:pt x="698500" y="236209"/>
                  </a:cubicBezTo>
                  <a:lnTo>
                    <a:pt x="698500" y="552205"/>
                  </a:lnTo>
                  <a:cubicBezTo>
                    <a:pt x="698500" y="580191"/>
                    <a:pt x="683619" y="606065"/>
                    <a:pt x="659430" y="620139"/>
                  </a:cubicBezTo>
                  <a:lnTo>
                    <a:pt x="388320" y="777875"/>
                  </a:lnTo>
                  <a:cubicBezTo>
                    <a:pt x="364169" y="791927"/>
                    <a:pt x="334331" y="791927"/>
                    <a:pt x="310180" y="777875"/>
                  </a:cubicBezTo>
                  <a:lnTo>
                    <a:pt x="39070" y="620139"/>
                  </a:lnTo>
                  <a:cubicBezTo>
                    <a:pt x="14881" y="606065"/>
                    <a:pt x="0" y="580191"/>
                    <a:pt x="0" y="552205"/>
                  </a:cubicBezTo>
                  <a:lnTo>
                    <a:pt x="0" y="236209"/>
                  </a:lnTo>
                  <a:cubicBezTo>
                    <a:pt x="0" y="208223"/>
                    <a:pt x="14881" y="182349"/>
                    <a:pt x="39070" y="168275"/>
                  </a:cubicBezTo>
                  <a:lnTo>
                    <a:pt x="310180" y="10539"/>
                  </a:lnTo>
                  <a:cubicBezTo>
                    <a:pt x="334331" y="-3513"/>
                    <a:pt x="364169" y="-3513"/>
                    <a:pt x="388320" y="10539"/>
                  </a:cubicBezTo>
                  <a:close/>
                </a:path>
              </a:pathLst>
            </a:custGeom>
            <a:solidFill>
              <a:srgbClr val="00B58F"/>
            </a:solidFill>
          </p:spPr>
        </p:sp>
        <p:sp>
          <p:nvSpPr>
            <p:cNvPr name="TextBox 17" id="17"/>
            <p:cNvSpPr txBox="true"/>
            <p:nvPr/>
          </p:nvSpPr>
          <p:spPr>
            <a:xfrm>
              <a:off x="0" y="101600"/>
              <a:ext cx="698500" cy="571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0042425" y="2557067"/>
            <a:ext cx="2943763" cy="3425469"/>
            <a:chOff x="0" y="0"/>
            <a:chExt cx="698500" cy="812800"/>
          </a:xfrm>
        </p:grpSpPr>
        <p:sp>
          <p:nvSpPr>
            <p:cNvPr name="Freeform 19" id="19"/>
            <p:cNvSpPr/>
            <p:nvPr/>
          </p:nvSpPr>
          <p:spPr>
            <a:xfrm flipH="false" flipV="false" rot="0">
              <a:off x="0" y="12193"/>
              <a:ext cx="698500" cy="788414"/>
            </a:xfrm>
            <a:custGeom>
              <a:avLst/>
              <a:gdLst/>
              <a:ahLst/>
              <a:cxnLst/>
              <a:rect r="r" b="b" t="t" l="l"/>
              <a:pathLst>
                <a:path h="788414" w="698500">
                  <a:moveTo>
                    <a:pt x="388320" y="10539"/>
                  </a:moveTo>
                  <a:lnTo>
                    <a:pt x="659430" y="168275"/>
                  </a:lnTo>
                  <a:cubicBezTo>
                    <a:pt x="683619" y="182349"/>
                    <a:pt x="698500" y="208223"/>
                    <a:pt x="698500" y="236209"/>
                  </a:cubicBezTo>
                  <a:lnTo>
                    <a:pt x="698500" y="552205"/>
                  </a:lnTo>
                  <a:cubicBezTo>
                    <a:pt x="698500" y="580191"/>
                    <a:pt x="683619" y="606065"/>
                    <a:pt x="659430" y="620139"/>
                  </a:cubicBezTo>
                  <a:lnTo>
                    <a:pt x="388320" y="777875"/>
                  </a:lnTo>
                  <a:cubicBezTo>
                    <a:pt x="364169" y="791927"/>
                    <a:pt x="334331" y="791927"/>
                    <a:pt x="310180" y="777875"/>
                  </a:cubicBezTo>
                  <a:lnTo>
                    <a:pt x="39070" y="620139"/>
                  </a:lnTo>
                  <a:cubicBezTo>
                    <a:pt x="14881" y="606065"/>
                    <a:pt x="0" y="580191"/>
                    <a:pt x="0" y="552205"/>
                  </a:cubicBezTo>
                  <a:lnTo>
                    <a:pt x="0" y="236209"/>
                  </a:lnTo>
                  <a:cubicBezTo>
                    <a:pt x="0" y="208223"/>
                    <a:pt x="14881" y="182349"/>
                    <a:pt x="39070" y="168275"/>
                  </a:cubicBezTo>
                  <a:lnTo>
                    <a:pt x="310180" y="10539"/>
                  </a:lnTo>
                  <a:cubicBezTo>
                    <a:pt x="334331" y="-3513"/>
                    <a:pt x="364169" y="-3513"/>
                    <a:pt x="388320" y="10539"/>
                  </a:cubicBezTo>
                  <a:close/>
                </a:path>
              </a:pathLst>
            </a:custGeom>
            <a:solidFill>
              <a:srgbClr val="00B58F"/>
            </a:solidFill>
          </p:spPr>
        </p:sp>
        <p:sp>
          <p:nvSpPr>
            <p:cNvPr name="TextBox 20" id="20"/>
            <p:cNvSpPr txBox="true"/>
            <p:nvPr/>
          </p:nvSpPr>
          <p:spPr>
            <a:xfrm>
              <a:off x="0" y="101600"/>
              <a:ext cx="698500" cy="571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5275103" y="5327448"/>
            <a:ext cx="2943763" cy="3425469"/>
            <a:chOff x="0" y="0"/>
            <a:chExt cx="698500" cy="812800"/>
          </a:xfrm>
        </p:grpSpPr>
        <p:sp>
          <p:nvSpPr>
            <p:cNvPr name="Freeform 22" id="22"/>
            <p:cNvSpPr/>
            <p:nvPr/>
          </p:nvSpPr>
          <p:spPr>
            <a:xfrm flipH="false" flipV="false" rot="0">
              <a:off x="0" y="12193"/>
              <a:ext cx="698500" cy="788414"/>
            </a:xfrm>
            <a:custGeom>
              <a:avLst/>
              <a:gdLst/>
              <a:ahLst/>
              <a:cxnLst/>
              <a:rect r="r" b="b" t="t" l="l"/>
              <a:pathLst>
                <a:path h="788414" w="698500">
                  <a:moveTo>
                    <a:pt x="388320" y="10539"/>
                  </a:moveTo>
                  <a:lnTo>
                    <a:pt x="659430" y="168275"/>
                  </a:lnTo>
                  <a:cubicBezTo>
                    <a:pt x="683619" y="182349"/>
                    <a:pt x="698500" y="208223"/>
                    <a:pt x="698500" y="236209"/>
                  </a:cubicBezTo>
                  <a:lnTo>
                    <a:pt x="698500" y="552205"/>
                  </a:lnTo>
                  <a:cubicBezTo>
                    <a:pt x="698500" y="580191"/>
                    <a:pt x="683619" y="606065"/>
                    <a:pt x="659430" y="620139"/>
                  </a:cubicBezTo>
                  <a:lnTo>
                    <a:pt x="388320" y="777875"/>
                  </a:lnTo>
                  <a:cubicBezTo>
                    <a:pt x="364169" y="791927"/>
                    <a:pt x="334331" y="791927"/>
                    <a:pt x="310180" y="777875"/>
                  </a:cubicBezTo>
                  <a:lnTo>
                    <a:pt x="39070" y="620139"/>
                  </a:lnTo>
                  <a:cubicBezTo>
                    <a:pt x="14881" y="606065"/>
                    <a:pt x="0" y="580191"/>
                    <a:pt x="0" y="552205"/>
                  </a:cubicBezTo>
                  <a:lnTo>
                    <a:pt x="0" y="236209"/>
                  </a:lnTo>
                  <a:cubicBezTo>
                    <a:pt x="0" y="208223"/>
                    <a:pt x="14881" y="182349"/>
                    <a:pt x="39070" y="168275"/>
                  </a:cubicBezTo>
                  <a:lnTo>
                    <a:pt x="310180" y="10539"/>
                  </a:lnTo>
                  <a:cubicBezTo>
                    <a:pt x="334331" y="-3513"/>
                    <a:pt x="364169" y="-3513"/>
                    <a:pt x="388320" y="10539"/>
                  </a:cubicBezTo>
                  <a:close/>
                </a:path>
              </a:pathLst>
            </a:custGeom>
            <a:solidFill>
              <a:srgbClr val="00B58F"/>
            </a:solidFill>
          </p:spPr>
        </p:sp>
        <p:sp>
          <p:nvSpPr>
            <p:cNvPr name="TextBox 23" id="23"/>
            <p:cNvSpPr txBox="true"/>
            <p:nvPr/>
          </p:nvSpPr>
          <p:spPr>
            <a:xfrm>
              <a:off x="0" y="101600"/>
              <a:ext cx="698500" cy="571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468988" y="5327448"/>
            <a:ext cx="2943763" cy="3425469"/>
            <a:chOff x="0" y="0"/>
            <a:chExt cx="698500" cy="812800"/>
          </a:xfrm>
        </p:grpSpPr>
        <p:sp>
          <p:nvSpPr>
            <p:cNvPr name="Freeform 25" id="25"/>
            <p:cNvSpPr/>
            <p:nvPr/>
          </p:nvSpPr>
          <p:spPr>
            <a:xfrm flipH="false" flipV="false" rot="0">
              <a:off x="0" y="12193"/>
              <a:ext cx="698500" cy="788414"/>
            </a:xfrm>
            <a:custGeom>
              <a:avLst/>
              <a:gdLst/>
              <a:ahLst/>
              <a:cxnLst/>
              <a:rect r="r" b="b" t="t" l="l"/>
              <a:pathLst>
                <a:path h="788414" w="698500">
                  <a:moveTo>
                    <a:pt x="388320" y="10539"/>
                  </a:moveTo>
                  <a:lnTo>
                    <a:pt x="659430" y="168275"/>
                  </a:lnTo>
                  <a:cubicBezTo>
                    <a:pt x="683619" y="182349"/>
                    <a:pt x="698500" y="208223"/>
                    <a:pt x="698500" y="236209"/>
                  </a:cubicBezTo>
                  <a:lnTo>
                    <a:pt x="698500" y="552205"/>
                  </a:lnTo>
                  <a:cubicBezTo>
                    <a:pt x="698500" y="580191"/>
                    <a:pt x="683619" y="606065"/>
                    <a:pt x="659430" y="620139"/>
                  </a:cubicBezTo>
                  <a:lnTo>
                    <a:pt x="388320" y="777875"/>
                  </a:lnTo>
                  <a:cubicBezTo>
                    <a:pt x="364169" y="791927"/>
                    <a:pt x="334331" y="791927"/>
                    <a:pt x="310180" y="777875"/>
                  </a:cubicBezTo>
                  <a:lnTo>
                    <a:pt x="39070" y="620139"/>
                  </a:lnTo>
                  <a:cubicBezTo>
                    <a:pt x="14881" y="606065"/>
                    <a:pt x="0" y="580191"/>
                    <a:pt x="0" y="552205"/>
                  </a:cubicBezTo>
                  <a:lnTo>
                    <a:pt x="0" y="236209"/>
                  </a:lnTo>
                  <a:cubicBezTo>
                    <a:pt x="0" y="208223"/>
                    <a:pt x="14881" y="182349"/>
                    <a:pt x="39070" y="168275"/>
                  </a:cubicBezTo>
                  <a:lnTo>
                    <a:pt x="310180" y="10539"/>
                  </a:lnTo>
                  <a:cubicBezTo>
                    <a:pt x="334331" y="-3513"/>
                    <a:pt x="364169" y="-3513"/>
                    <a:pt x="388320" y="10539"/>
                  </a:cubicBezTo>
                  <a:close/>
                </a:path>
              </a:pathLst>
            </a:custGeom>
            <a:solidFill>
              <a:srgbClr val="00B58F"/>
            </a:solidFill>
          </p:spPr>
        </p:sp>
        <p:sp>
          <p:nvSpPr>
            <p:cNvPr name="TextBox 26" id="26"/>
            <p:cNvSpPr txBox="true"/>
            <p:nvPr/>
          </p:nvSpPr>
          <p:spPr>
            <a:xfrm>
              <a:off x="0" y="101600"/>
              <a:ext cx="698500" cy="571500"/>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7659498" y="3604423"/>
            <a:ext cx="1368857" cy="1368857"/>
          </a:xfrm>
          <a:custGeom>
            <a:avLst/>
            <a:gdLst/>
            <a:ahLst/>
            <a:cxnLst/>
            <a:rect r="r" b="b" t="t" l="l"/>
            <a:pathLst>
              <a:path h="1368857" w="1368857">
                <a:moveTo>
                  <a:pt x="0" y="0"/>
                </a:moveTo>
                <a:lnTo>
                  <a:pt x="1368858" y="0"/>
                </a:lnTo>
                <a:lnTo>
                  <a:pt x="1368858" y="1368857"/>
                </a:lnTo>
                <a:lnTo>
                  <a:pt x="0" y="13688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0">
            <a:off x="10796196" y="3585373"/>
            <a:ext cx="1417170" cy="1368857"/>
          </a:xfrm>
          <a:custGeom>
            <a:avLst/>
            <a:gdLst/>
            <a:ahLst/>
            <a:cxnLst/>
            <a:rect r="r" b="b" t="t" l="l"/>
            <a:pathLst>
              <a:path h="1368857" w="1417170">
                <a:moveTo>
                  <a:pt x="0" y="0"/>
                </a:moveTo>
                <a:lnTo>
                  <a:pt x="1417170" y="0"/>
                </a:lnTo>
                <a:lnTo>
                  <a:pt x="1417170" y="1368857"/>
                </a:lnTo>
                <a:lnTo>
                  <a:pt x="0" y="13688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false" flipV="false" rot="0">
            <a:off x="5853521" y="6445623"/>
            <a:ext cx="1786927" cy="1189119"/>
          </a:xfrm>
          <a:custGeom>
            <a:avLst/>
            <a:gdLst/>
            <a:ahLst/>
            <a:cxnLst/>
            <a:rect r="r" b="b" t="t" l="l"/>
            <a:pathLst>
              <a:path h="1189119" w="1786927">
                <a:moveTo>
                  <a:pt x="0" y="0"/>
                </a:moveTo>
                <a:lnTo>
                  <a:pt x="1786927" y="0"/>
                </a:lnTo>
                <a:lnTo>
                  <a:pt x="1786927" y="1189119"/>
                </a:lnTo>
                <a:lnTo>
                  <a:pt x="0" y="11891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0" id="30"/>
          <p:cNvSpPr/>
          <p:nvPr/>
        </p:nvSpPr>
        <p:spPr>
          <a:xfrm flipH="false" flipV="false" rot="0">
            <a:off x="9207076" y="6355754"/>
            <a:ext cx="1467586" cy="1368857"/>
          </a:xfrm>
          <a:custGeom>
            <a:avLst/>
            <a:gdLst/>
            <a:ahLst/>
            <a:cxnLst/>
            <a:rect r="r" b="b" t="t" l="l"/>
            <a:pathLst>
              <a:path h="1368857" w="1467586">
                <a:moveTo>
                  <a:pt x="0" y="0"/>
                </a:moveTo>
                <a:lnTo>
                  <a:pt x="1467586" y="0"/>
                </a:lnTo>
                <a:lnTo>
                  <a:pt x="1467586" y="1368858"/>
                </a:lnTo>
                <a:lnTo>
                  <a:pt x="0" y="136885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1" id="31"/>
          <p:cNvSpPr txBox="true"/>
          <p:nvPr/>
        </p:nvSpPr>
        <p:spPr>
          <a:xfrm rot="0">
            <a:off x="4473164" y="1442053"/>
            <a:ext cx="9341671" cy="848360"/>
          </a:xfrm>
          <a:prstGeom prst="rect">
            <a:avLst/>
          </a:prstGeom>
        </p:spPr>
        <p:txBody>
          <a:bodyPr anchor="t" rtlCol="false" tIns="0" lIns="0" bIns="0" rIns="0">
            <a:spAutoFit/>
          </a:bodyPr>
          <a:lstStyle/>
          <a:p>
            <a:pPr algn="ctr">
              <a:lnSpc>
                <a:spcPts val="6399"/>
              </a:lnSpc>
            </a:pPr>
            <a:r>
              <a:rPr lang="en-US" sz="6399">
                <a:solidFill>
                  <a:srgbClr val="0B132B"/>
                </a:solidFill>
                <a:latin typeface="Rubik One"/>
                <a:ea typeface="Rubik One"/>
                <a:cs typeface="Rubik One"/>
                <a:sym typeface="Rubik One"/>
              </a:rPr>
              <a:t>OBJECTIVES</a:t>
            </a:r>
          </a:p>
        </p:txBody>
      </p:sp>
      <p:sp>
        <p:nvSpPr>
          <p:cNvPr name="TextBox 32" id="32"/>
          <p:cNvSpPr txBox="true"/>
          <p:nvPr/>
        </p:nvSpPr>
        <p:spPr>
          <a:xfrm rot="0">
            <a:off x="1353022" y="754961"/>
            <a:ext cx="2381625" cy="273739"/>
          </a:xfrm>
          <a:prstGeom prst="rect">
            <a:avLst/>
          </a:prstGeom>
        </p:spPr>
        <p:txBody>
          <a:bodyPr anchor="t" rtlCol="false" tIns="0" lIns="0" bIns="0" rIns="0">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Larana Electric Car</a:t>
            </a:r>
          </a:p>
        </p:txBody>
      </p:sp>
      <p:sp>
        <p:nvSpPr>
          <p:cNvPr name="TextBox 33" id="33"/>
          <p:cNvSpPr txBox="true"/>
          <p:nvPr/>
        </p:nvSpPr>
        <p:spPr>
          <a:xfrm rot="0">
            <a:off x="13586573" y="3513707"/>
            <a:ext cx="4192549" cy="876935"/>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Safety</a:t>
            </a:r>
          </a:p>
          <a:p>
            <a:pPr algn="l">
              <a:lnSpc>
                <a:spcPts val="3399"/>
              </a:lnSpc>
            </a:pPr>
          </a:p>
        </p:txBody>
      </p:sp>
      <p:sp>
        <p:nvSpPr>
          <p:cNvPr name="TextBox 34" id="34"/>
          <p:cNvSpPr txBox="true"/>
          <p:nvPr/>
        </p:nvSpPr>
        <p:spPr>
          <a:xfrm rot="0">
            <a:off x="2059102" y="3532757"/>
            <a:ext cx="4192549" cy="448310"/>
          </a:xfrm>
          <a:prstGeom prst="rect">
            <a:avLst/>
          </a:prstGeom>
        </p:spPr>
        <p:txBody>
          <a:bodyPr anchor="t" rtlCol="false" tIns="0" lIns="0" bIns="0" rIns="0">
            <a:spAutoFit/>
          </a:bodyPr>
          <a:lstStyle/>
          <a:p>
            <a:pPr algn="r">
              <a:lnSpc>
                <a:spcPts val="3399"/>
              </a:lnSpc>
            </a:pPr>
            <a:r>
              <a:rPr lang="en-US" sz="3399">
                <a:solidFill>
                  <a:srgbClr val="0B132B"/>
                </a:solidFill>
                <a:latin typeface="Rubik One"/>
                <a:ea typeface="Rubik One"/>
                <a:cs typeface="Rubik One"/>
                <a:sym typeface="Rubik One"/>
              </a:rPr>
              <a:t>Temperature</a:t>
            </a:r>
          </a:p>
        </p:txBody>
      </p:sp>
      <p:sp>
        <p:nvSpPr>
          <p:cNvPr name="TextBox 35" id="35"/>
          <p:cNvSpPr txBox="true"/>
          <p:nvPr/>
        </p:nvSpPr>
        <p:spPr>
          <a:xfrm rot="0">
            <a:off x="11718561" y="6163248"/>
            <a:ext cx="4192549" cy="448310"/>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Battery Life</a:t>
            </a:r>
          </a:p>
        </p:txBody>
      </p:sp>
      <p:sp>
        <p:nvSpPr>
          <p:cNvPr name="TextBox 36" id="36"/>
          <p:cNvSpPr txBox="true"/>
          <p:nvPr/>
        </p:nvSpPr>
        <p:spPr>
          <a:xfrm rot="0">
            <a:off x="768384" y="6068261"/>
            <a:ext cx="4192549" cy="448310"/>
          </a:xfrm>
          <a:prstGeom prst="rect">
            <a:avLst/>
          </a:prstGeom>
        </p:spPr>
        <p:txBody>
          <a:bodyPr anchor="t" rtlCol="false" tIns="0" lIns="0" bIns="0" rIns="0">
            <a:spAutoFit/>
          </a:bodyPr>
          <a:lstStyle/>
          <a:p>
            <a:pPr algn="r">
              <a:lnSpc>
                <a:spcPts val="3399"/>
              </a:lnSpc>
            </a:pPr>
            <a:r>
              <a:rPr lang="en-US" sz="3399">
                <a:solidFill>
                  <a:srgbClr val="0B132B"/>
                </a:solidFill>
                <a:latin typeface="Rubik One"/>
                <a:ea typeface="Rubik One"/>
                <a:cs typeface="Rubik One"/>
                <a:sym typeface="Rubik One"/>
              </a:rPr>
              <a:t>Speed</a:t>
            </a:r>
          </a:p>
        </p:txBody>
      </p:sp>
      <p:sp>
        <p:nvSpPr>
          <p:cNvPr name="TextBox 37" id="37"/>
          <p:cNvSpPr txBox="true"/>
          <p:nvPr/>
        </p:nvSpPr>
        <p:spPr>
          <a:xfrm rot="0">
            <a:off x="13188993" y="3629153"/>
            <a:ext cx="4192549" cy="1102360"/>
          </a:xfrm>
          <a:prstGeom prst="rect">
            <a:avLst/>
          </a:prstGeom>
        </p:spPr>
        <p:txBody>
          <a:bodyPr anchor="t" rtlCol="false" tIns="0" lIns="0" bIns="0" rIns="0">
            <a:spAutoFit/>
          </a:bodyPr>
          <a:lstStyle/>
          <a:p>
            <a:pPr algn="l">
              <a:lnSpc>
                <a:spcPts val="2239"/>
              </a:lnSpc>
            </a:pPr>
          </a:p>
          <a:p>
            <a:pPr algn="l">
              <a:lnSpc>
                <a:spcPts val="2239"/>
              </a:lnSpc>
            </a:pPr>
            <a:r>
              <a:rPr lang="en-US" sz="1599" spc="39">
                <a:solidFill>
                  <a:srgbClr val="0B132B"/>
                </a:solidFill>
                <a:latin typeface="Bricolage Grotesque"/>
                <a:ea typeface="Bricolage Grotesque"/>
                <a:cs typeface="Bricolage Grotesque"/>
                <a:sym typeface="Bricolage Grotesque"/>
              </a:rPr>
              <a:t>To evaluate the safety of each charging method in terms of overcharging, overheating, and risk of battery damage</a:t>
            </a:r>
          </a:p>
        </p:txBody>
      </p:sp>
      <p:sp>
        <p:nvSpPr>
          <p:cNvPr name="TextBox 38" id="38"/>
          <p:cNvSpPr txBox="true"/>
          <p:nvPr/>
        </p:nvSpPr>
        <p:spPr>
          <a:xfrm rot="0">
            <a:off x="2564082" y="3408932"/>
            <a:ext cx="3859019" cy="1729310"/>
          </a:xfrm>
          <a:prstGeom prst="rect">
            <a:avLst/>
          </a:prstGeom>
        </p:spPr>
        <p:txBody>
          <a:bodyPr anchor="t" rtlCol="false" tIns="0" lIns="0" bIns="0" rIns="0">
            <a:spAutoFit/>
          </a:bodyPr>
          <a:lstStyle/>
          <a:p>
            <a:pPr algn="r">
              <a:lnSpc>
                <a:spcPts val="2343"/>
              </a:lnSpc>
            </a:pPr>
          </a:p>
          <a:p>
            <a:pPr algn="r">
              <a:lnSpc>
                <a:spcPts val="2343"/>
              </a:lnSpc>
            </a:pPr>
          </a:p>
          <a:p>
            <a:pPr algn="r">
              <a:lnSpc>
                <a:spcPts val="2343"/>
              </a:lnSpc>
            </a:pPr>
            <a:r>
              <a:rPr lang="en-US" sz="1673" spc="41">
                <a:solidFill>
                  <a:srgbClr val="0B132B"/>
                </a:solidFill>
                <a:latin typeface="Bricolage Grotesque"/>
                <a:ea typeface="Bricolage Grotesque"/>
                <a:cs typeface="Bricolage Grotesque"/>
                <a:sym typeface="Bricolage Grotesque"/>
              </a:rPr>
              <a:t>To analyze how different charging techniques affect battery temperature and thermal behavior during charging.</a:t>
            </a:r>
          </a:p>
        </p:txBody>
      </p:sp>
      <p:sp>
        <p:nvSpPr>
          <p:cNvPr name="TextBox 39" id="39"/>
          <p:cNvSpPr txBox="true"/>
          <p:nvPr/>
        </p:nvSpPr>
        <p:spPr>
          <a:xfrm rot="0">
            <a:off x="11718561" y="6315965"/>
            <a:ext cx="4192549" cy="826135"/>
          </a:xfrm>
          <a:prstGeom prst="rect">
            <a:avLst/>
          </a:prstGeom>
        </p:spPr>
        <p:txBody>
          <a:bodyPr anchor="t" rtlCol="false" tIns="0" lIns="0" bIns="0" rIns="0">
            <a:spAutoFit/>
          </a:bodyPr>
          <a:lstStyle/>
          <a:p>
            <a:pPr algn="l">
              <a:lnSpc>
                <a:spcPts val="2239"/>
              </a:lnSpc>
            </a:pPr>
          </a:p>
          <a:p>
            <a:pPr algn="l">
              <a:lnSpc>
                <a:spcPts val="2239"/>
              </a:lnSpc>
            </a:pPr>
            <a:r>
              <a:rPr lang="en-US" sz="1599" spc="39">
                <a:solidFill>
                  <a:srgbClr val="0B132B"/>
                </a:solidFill>
                <a:latin typeface="Bricolage Grotesque"/>
                <a:ea typeface="Bricolage Grotesque"/>
                <a:cs typeface="Bricolage Grotesque"/>
                <a:sym typeface="Bricolage Grotesque"/>
              </a:rPr>
              <a:t>To study the impact of charging methods on battery health and overall cycle life.</a:t>
            </a:r>
          </a:p>
        </p:txBody>
      </p:sp>
      <p:sp>
        <p:nvSpPr>
          <p:cNvPr name="TextBox 40" id="40"/>
          <p:cNvSpPr txBox="true"/>
          <p:nvPr/>
        </p:nvSpPr>
        <p:spPr>
          <a:xfrm rot="0">
            <a:off x="654084" y="6530278"/>
            <a:ext cx="4192549" cy="826135"/>
          </a:xfrm>
          <a:prstGeom prst="rect">
            <a:avLst/>
          </a:prstGeom>
        </p:spPr>
        <p:txBody>
          <a:bodyPr anchor="t" rtlCol="false" tIns="0" lIns="0" bIns="0" rIns="0">
            <a:spAutoFit/>
          </a:bodyPr>
          <a:lstStyle/>
          <a:p>
            <a:pPr algn="r">
              <a:lnSpc>
                <a:spcPts val="2239"/>
              </a:lnSpc>
            </a:pPr>
            <a:r>
              <a:rPr lang="en-US" sz="1599" spc="39">
                <a:solidFill>
                  <a:srgbClr val="0B132B"/>
                </a:solidFill>
                <a:latin typeface="Bricolage Grotesque"/>
                <a:ea typeface="Bricolage Grotesque"/>
                <a:cs typeface="Bricolage Grotesque"/>
                <a:sym typeface="Bricolage Grotesque"/>
              </a:rPr>
              <a:t>To compare the charging speed of different techniques by measuring the time taken to reach full charge</a:t>
            </a:r>
          </a:p>
        </p:txBody>
      </p:sp>
      <p:grpSp>
        <p:nvGrpSpPr>
          <p:cNvPr name="Group 41" id="41"/>
          <p:cNvGrpSpPr/>
          <p:nvPr/>
        </p:nvGrpSpPr>
        <p:grpSpPr>
          <a:xfrm rot="0">
            <a:off x="11502671" y="9960324"/>
            <a:ext cx="9960587" cy="1142074"/>
            <a:chOff x="0" y="0"/>
            <a:chExt cx="2572779" cy="294993"/>
          </a:xfrm>
        </p:grpSpPr>
        <p:sp>
          <p:nvSpPr>
            <p:cNvPr name="Freeform 42" id="42"/>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43" id="43"/>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44" id="44"/>
          <p:cNvGrpSpPr/>
          <p:nvPr/>
        </p:nvGrpSpPr>
        <p:grpSpPr>
          <a:xfrm rot="0">
            <a:off x="-5959063" y="-784283"/>
            <a:ext cx="9000306" cy="1142074"/>
            <a:chOff x="0" y="0"/>
            <a:chExt cx="2324742" cy="294993"/>
          </a:xfrm>
        </p:grpSpPr>
        <p:sp>
          <p:nvSpPr>
            <p:cNvPr name="Freeform 45" id="45"/>
            <p:cNvSpPr/>
            <p:nvPr/>
          </p:nvSpPr>
          <p:spPr>
            <a:xfrm flipH="false" flipV="false" rot="0">
              <a:off x="0" y="0"/>
              <a:ext cx="2324742" cy="294993"/>
            </a:xfrm>
            <a:custGeom>
              <a:avLst/>
              <a:gdLst/>
              <a:ahLst/>
              <a:cxnLst/>
              <a:rect r="r" b="b" t="t" l="l"/>
              <a:pathLst>
                <a:path h="294993" w="2324742">
                  <a:moveTo>
                    <a:pt x="51611" y="0"/>
                  </a:moveTo>
                  <a:lnTo>
                    <a:pt x="2273131" y="0"/>
                  </a:lnTo>
                  <a:cubicBezTo>
                    <a:pt x="2286820" y="0"/>
                    <a:pt x="2299947" y="5438"/>
                    <a:pt x="2309626" y="15117"/>
                  </a:cubicBezTo>
                  <a:cubicBezTo>
                    <a:pt x="2319305" y="24795"/>
                    <a:pt x="2324742" y="37923"/>
                    <a:pt x="2324742" y="51611"/>
                  </a:cubicBezTo>
                  <a:lnTo>
                    <a:pt x="2324742" y="243382"/>
                  </a:lnTo>
                  <a:cubicBezTo>
                    <a:pt x="2324742" y="257070"/>
                    <a:pt x="2319305" y="270198"/>
                    <a:pt x="2309626" y="279876"/>
                  </a:cubicBezTo>
                  <a:cubicBezTo>
                    <a:pt x="2299947" y="289555"/>
                    <a:pt x="2286820" y="294993"/>
                    <a:pt x="2273131" y="294993"/>
                  </a:cubicBezTo>
                  <a:lnTo>
                    <a:pt x="51611" y="294993"/>
                  </a:lnTo>
                  <a:cubicBezTo>
                    <a:pt x="37923" y="294993"/>
                    <a:pt x="24795" y="289555"/>
                    <a:pt x="15117" y="279876"/>
                  </a:cubicBezTo>
                  <a:cubicBezTo>
                    <a:pt x="5438" y="270198"/>
                    <a:pt x="0" y="257070"/>
                    <a:pt x="0" y="243382"/>
                  </a:cubicBezTo>
                  <a:lnTo>
                    <a:pt x="0" y="51611"/>
                  </a:lnTo>
                  <a:cubicBezTo>
                    <a:pt x="0" y="37923"/>
                    <a:pt x="5438" y="24795"/>
                    <a:pt x="15117" y="15117"/>
                  </a:cubicBezTo>
                  <a:cubicBezTo>
                    <a:pt x="24795" y="5438"/>
                    <a:pt x="37923" y="0"/>
                    <a:pt x="51611" y="0"/>
                  </a:cubicBezTo>
                  <a:close/>
                </a:path>
              </a:pathLst>
            </a:custGeom>
            <a:ln w="19050" cap="rnd">
              <a:solidFill>
                <a:srgbClr val="00B58F"/>
              </a:solidFill>
              <a:prstDash val="solid"/>
              <a:round/>
            </a:ln>
          </p:spPr>
        </p:sp>
        <p:sp>
          <p:nvSpPr>
            <p:cNvPr name="TextBox 46" id="46"/>
            <p:cNvSpPr txBox="true"/>
            <p:nvPr/>
          </p:nvSpPr>
          <p:spPr>
            <a:xfrm>
              <a:off x="0" y="-38100"/>
              <a:ext cx="2324742" cy="333093"/>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TextBox 2" id="2"/>
          <p:cNvSpPr txBox="true"/>
          <p:nvPr/>
        </p:nvSpPr>
        <p:spPr>
          <a:xfrm rot="0">
            <a:off x="953562" y="1442053"/>
            <a:ext cx="9341671" cy="848360"/>
          </a:xfrm>
          <a:prstGeom prst="rect">
            <a:avLst/>
          </a:prstGeom>
        </p:spPr>
        <p:txBody>
          <a:bodyPr anchor="t" rtlCol="false" tIns="0" lIns="0" bIns="0" rIns="0">
            <a:spAutoFit/>
          </a:bodyPr>
          <a:lstStyle/>
          <a:p>
            <a:pPr algn="l">
              <a:lnSpc>
                <a:spcPts val="6399"/>
              </a:lnSpc>
            </a:pPr>
            <a:r>
              <a:rPr lang="en-US" sz="6399">
                <a:solidFill>
                  <a:srgbClr val="0B132B"/>
                </a:solidFill>
                <a:latin typeface="Rubik One"/>
                <a:ea typeface="Rubik One"/>
                <a:cs typeface="Rubik One"/>
                <a:sym typeface="Rubik One"/>
              </a:rPr>
              <a:t>CC METHOD</a:t>
            </a:r>
          </a:p>
        </p:txBody>
      </p:sp>
      <p:grpSp>
        <p:nvGrpSpPr>
          <p:cNvPr name="Group 3" id="3"/>
          <p:cNvGrpSpPr/>
          <p:nvPr/>
        </p:nvGrpSpPr>
        <p:grpSpPr>
          <a:xfrm rot="0">
            <a:off x="-245210" y="0"/>
            <a:ext cx="1815721" cy="1369315"/>
            <a:chOff x="0" y="0"/>
            <a:chExt cx="528322" cy="398431"/>
          </a:xfrm>
        </p:grpSpPr>
        <p:sp>
          <p:nvSpPr>
            <p:cNvPr name="Freeform 4" id="4"/>
            <p:cNvSpPr/>
            <p:nvPr/>
          </p:nvSpPr>
          <p:spPr>
            <a:xfrm flipH="false" flipV="false" rot="0">
              <a:off x="24781" y="0"/>
              <a:ext cx="478760" cy="398431"/>
            </a:xfrm>
            <a:custGeom>
              <a:avLst/>
              <a:gdLst/>
              <a:ahLst/>
              <a:cxnLst/>
              <a:rect r="r" b="b" t="t" l="l"/>
              <a:pathLst>
                <a:path h="398431" w="478760">
                  <a:moveTo>
                    <a:pt x="242376" y="0"/>
                  </a:moveTo>
                  <a:lnTo>
                    <a:pt x="439584" y="0"/>
                  </a:lnTo>
                  <a:cubicBezTo>
                    <a:pt x="453217" y="0"/>
                    <a:pt x="465870" y="7088"/>
                    <a:pt x="472991" y="18713"/>
                  </a:cubicBezTo>
                  <a:cubicBezTo>
                    <a:pt x="480112" y="30339"/>
                    <a:pt x="480677" y="44831"/>
                    <a:pt x="474483" y="56976"/>
                  </a:cubicBezTo>
                  <a:lnTo>
                    <a:pt x="329399" y="341455"/>
                  </a:lnTo>
                  <a:cubicBezTo>
                    <a:pt x="311567" y="376420"/>
                    <a:pt x="275633" y="398431"/>
                    <a:pt x="236384" y="398431"/>
                  </a:cubicBezTo>
                  <a:lnTo>
                    <a:pt x="39176" y="398431"/>
                  </a:lnTo>
                  <a:cubicBezTo>
                    <a:pt x="25543" y="398431"/>
                    <a:pt x="12890" y="391343"/>
                    <a:pt x="5769" y="379718"/>
                  </a:cubicBezTo>
                  <a:cubicBezTo>
                    <a:pt x="-1352" y="368092"/>
                    <a:pt x="-1917" y="353600"/>
                    <a:pt x="4277" y="341455"/>
                  </a:cubicBezTo>
                  <a:lnTo>
                    <a:pt x="149361" y="56976"/>
                  </a:lnTo>
                  <a:cubicBezTo>
                    <a:pt x="167193" y="22011"/>
                    <a:pt x="203127" y="0"/>
                    <a:pt x="242376" y="0"/>
                  </a:cubicBezTo>
                  <a:close/>
                </a:path>
              </a:pathLst>
            </a:custGeom>
            <a:solidFill>
              <a:srgbClr val="00B58F"/>
            </a:solidFill>
          </p:spPr>
        </p:sp>
        <p:sp>
          <p:nvSpPr>
            <p:cNvPr name="TextBox 5" id="5"/>
            <p:cNvSpPr txBox="true"/>
            <p:nvPr/>
          </p:nvSpPr>
          <p:spPr>
            <a:xfrm>
              <a:off x="101600" y="-38100"/>
              <a:ext cx="325122" cy="43653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0" y="0"/>
            <a:ext cx="1092008" cy="869635"/>
          </a:xfrm>
          <a:custGeom>
            <a:avLst/>
            <a:gdLst/>
            <a:ahLst/>
            <a:cxnLst/>
            <a:rect r="r" b="b" t="t" l="l"/>
            <a:pathLst>
              <a:path h="869635" w="1092008">
                <a:moveTo>
                  <a:pt x="0" y="0"/>
                </a:moveTo>
                <a:lnTo>
                  <a:pt x="1092008" y="0"/>
                </a:lnTo>
                <a:lnTo>
                  <a:pt x="1092008" y="869635"/>
                </a:lnTo>
                <a:lnTo>
                  <a:pt x="0" y="8696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1502671" y="9960324"/>
            <a:ext cx="9960587" cy="1142074"/>
            <a:chOff x="0" y="0"/>
            <a:chExt cx="2572779" cy="294993"/>
          </a:xfrm>
        </p:grpSpPr>
        <p:sp>
          <p:nvSpPr>
            <p:cNvPr name="Freeform 8" id="8"/>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9" id="9"/>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5959063" y="-784283"/>
            <a:ext cx="8918177" cy="1142074"/>
            <a:chOff x="0" y="0"/>
            <a:chExt cx="2303529" cy="294993"/>
          </a:xfrm>
        </p:grpSpPr>
        <p:sp>
          <p:nvSpPr>
            <p:cNvPr name="Freeform 11" id="11"/>
            <p:cNvSpPr/>
            <p:nvPr/>
          </p:nvSpPr>
          <p:spPr>
            <a:xfrm flipH="false" flipV="false" rot="0">
              <a:off x="0" y="0"/>
              <a:ext cx="2303529" cy="294993"/>
            </a:xfrm>
            <a:custGeom>
              <a:avLst/>
              <a:gdLst/>
              <a:ahLst/>
              <a:cxnLst/>
              <a:rect r="r" b="b" t="t" l="l"/>
              <a:pathLst>
                <a:path h="294993" w="2303529">
                  <a:moveTo>
                    <a:pt x="52086" y="0"/>
                  </a:moveTo>
                  <a:lnTo>
                    <a:pt x="2251442" y="0"/>
                  </a:lnTo>
                  <a:cubicBezTo>
                    <a:pt x="2265256" y="0"/>
                    <a:pt x="2278505" y="5488"/>
                    <a:pt x="2288273" y="15256"/>
                  </a:cubicBezTo>
                  <a:cubicBezTo>
                    <a:pt x="2298041" y="25024"/>
                    <a:pt x="2303529" y="38272"/>
                    <a:pt x="2303529" y="52086"/>
                  </a:cubicBezTo>
                  <a:lnTo>
                    <a:pt x="2303529" y="242907"/>
                  </a:lnTo>
                  <a:cubicBezTo>
                    <a:pt x="2303529" y="271673"/>
                    <a:pt x="2280209" y="294993"/>
                    <a:pt x="2251442" y="294993"/>
                  </a:cubicBezTo>
                  <a:lnTo>
                    <a:pt x="52086" y="294993"/>
                  </a:lnTo>
                  <a:cubicBezTo>
                    <a:pt x="23320" y="294993"/>
                    <a:pt x="0" y="271673"/>
                    <a:pt x="0" y="242907"/>
                  </a:cubicBezTo>
                  <a:lnTo>
                    <a:pt x="0" y="52086"/>
                  </a:lnTo>
                  <a:cubicBezTo>
                    <a:pt x="0" y="23320"/>
                    <a:pt x="23320" y="0"/>
                    <a:pt x="52086" y="0"/>
                  </a:cubicBezTo>
                  <a:close/>
                </a:path>
              </a:pathLst>
            </a:custGeom>
            <a:ln w="19050" cap="rnd">
              <a:solidFill>
                <a:srgbClr val="00B58F"/>
              </a:solidFill>
              <a:prstDash val="solid"/>
              <a:round/>
            </a:ln>
          </p:spPr>
        </p:sp>
        <p:sp>
          <p:nvSpPr>
            <p:cNvPr name="TextBox 12" id="12"/>
            <p:cNvSpPr txBox="true"/>
            <p:nvPr/>
          </p:nvSpPr>
          <p:spPr>
            <a:xfrm>
              <a:off x="0" y="-38100"/>
              <a:ext cx="2303529"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9144000" y="3301628"/>
            <a:ext cx="9144000" cy="4286250"/>
          </a:xfrm>
          <a:custGeom>
            <a:avLst/>
            <a:gdLst/>
            <a:ahLst/>
            <a:cxnLst/>
            <a:rect r="r" b="b" t="t" l="l"/>
            <a:pathLst>
              <a:path h="4286250" w="9144000">
                <a:moveTo>
                  <a:pt x="0" y="0"/>
                </a:moveTo>
                <a:lnTo>
                  <a:pt x="9144000" y="0"/>
                </a:lnTo>
                <a:lnTo>
                  <a:pt x="9144000" y="4286250"/>
                </a:lnTo>
                <a:lnTo>
                  <a:pt x="0" y="4286250"/>
                </a:lnTo>
                <a:lnTo>
                  <a:pt x="0" y="0"/>
                </a:lnTo>
                <a:close/>
              </a:path>
            </a:pathLst>
          </a:custGeom>
          <a:blipFill>
            <a:blip r:embed="rId4"/>
            <a:stretch>
              <a:fillRect l="0" t="0" r="0" b="0"/>
            </a:stretch>
          </a:blipFill>
        </p:spPr>
      </p:sp>
      <p:sp>
        <p:nvSpPr>
          <p:cNvPr name="TextBox 14" id="14"/>
          <p:cNvSpPr txBox="true"/>
          <p:nvPr/>
        </p:nvSpPr>
        <p:spPr>
          <a:xfrm rot="0">
            <a:off x="223481" y="2570639"/>
            <a:ext cx="8727988" cy="1351874"/>
          </a:xfrm>
          <a:prstGeom prst="rect">
            <a:avLst/>
          </a:prstGeom>
        </p:spPr>
        <p:txBody>
          <a:bodyPr anchor="t" rtlCol="false" tIns="0" lIns="0" bIns="0" rIns="0">
            <a:spAutoFit/>
          </a:bodyPr>
          <a:lstStyle/>
          <a:p>
            <a:pPr algn="l">
              <a:lnSpc>
                <a:spcPts val="2608"/>
              </a:lnSpc>
            </a:pPr>
            <a:r>
              <a:rPr lang="en-US" sz="2608">
                <a:solidFill>
                  <a:srgbClr val="000000"/>
                </a:solidFill>
                <a:latin typeface="Fira Sans"/>
                <a:ea typeface="Fira Sans"/>
                <a:cs typeface="Fira Sans"/>
                <a:sym typeface="Fira Sans"/>
              </a:rPr>
              <a:t>Constant Current (CC) charging means supplying a steady current to the battery so it charges quickly, especially when it’s low on charge. As the battery fills up, its voltage rises.</a:t>
            </a:r>
          </a:p>
        </p:txBody>
      </p:sp>
      <p:sp>
        <p:nvSpPr>
          <p:cNvPr name="TextBox 15" id="15"/>
          <p:cNvSpPr txBox="true"/>
          <p:nvPr/>
        </p:nvSpPr>
        <p:spPr>
          <a:xfrm rot="0">
            <a:off x="223481" y="5038113"/>
            <a:ext cx="8917289" cy="3392285"/>
          </a:xfrm>
          <a:prstGeom prst="rect">
            <a:avLst/>
          </a:prstGeom>
        </p:spPr>
        <p:txBody>
          <a:bodyPr anchor="t" rtlCol="false" tIns="0" lIns="0" bIns="0" rIns="0">
            <a:spAutoFit/>
          </a:bodyPr>
          <a:lstStyle/>
          <a:p>
            <a:pPr algn="ctr" marL="523920" indent="-261960" lvl="1">
              <a:lnSpc>
                <a:spcPts val="3397"/>
              </a:lnSpc>
              <a:buFont typeface="Arial"/>
              <a:buChar char="•"/>
            </a:pPr>
            <a:r>
              <a:rPr lang="en-US" sz="2426">
                <a:solidFill>
                  <a:srgbClr val="000000"/>
                </a:solidFill>
                <a:latin typeface="Bricolage Grotesque"/>
                <a:ea typeface="Bricolage Grotesque"/>
                <a:cs typeface="Bricolage Grotesque"/>
                <a:sym typeface="Bricolage Grotesque"/>
              </a:rPr>
              <a:t>We observed that In constant current charging, the battery charges very rapidly without proper voltage control.</a:t>
            </a:r>
          </a:p>
          <a:p>
            <a:pPr algn="ctr" marL="523920" indent="-261960" lvl="1">
              <a:lnSpc>
                <a:spcPts val="3397"/>
              </a:lnSpc>
              <a:buFont typeface="Arial"/>
              <a:buChar char="•"/>
            </a:pPr>
            <a:r>
              <a:rPr lang="en-US" sz="2426">
                <a:solidFill>
                  <a:srgbClr val="000000"/>
                </a:solidFill>
                <a:latin typeface="Bricolage Grotesque"/>
                <a:ea typeface="Bricolage Grotesque"/>
                <a:cs typeface="Bricolage Grotesque"/>
                <a:sym typeface="Bricolage Grotesque"/>
              </a:rPr>
              <a:t>This is  causing the battery voltage to exceed its safe limit during charging.</a:t>
            </a:r>
          </a:p>
          <a:p>
            <a:pPr algn="ctr" marL="523920" indent="-261960" lvl="1">
              <a:lnSpc>
                <a:spcPts val="3397"/>
              </a:lnSpc>
              <a:buFont typeface="Arial"/>
              <a:buChar char="•"/>
            </a:pPr>
            <a:r>
              <a:rPr lang="en-US" sz="2426">
                <a:solidFill>
                  <a:srgbClr val="000000"/>
                </a:solidFill>
                <a:latin typeface="Bricolage Grotesque"/>
                <a:ea typeface="Bricolage Grotesque"/>
                <a:cs typeface="Bricolage Grotesque"/>
                <a:sym typeface="Bricolage Grotesque"/>
              </a:rPr>
              <a:t> It leads to overcharging, overheating, and reduceing battery life.</a:t>
            </a:r>
          </a:p>
          <a:p>
            <a:pPr algn="ctr">
              <a:lnSpc>
                <a:spcPts val="3397"/>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1502671" y="9960324"/>
            <a:ext cx="9960587" cy="1142074"/>
            <a:chOff x="0" y="0"/>
            <a:chExt cx="2572779" cy="294993"/>
          </a:xfrm>
        </p:grpSpPr>
        <p:sp>
          <p:nvSpPr>
            <p:cNvPr name="Freeform 3" id="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4" id="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959063" y="-784283"/>
            <a:ext cx="8918177" cy="1142074"/>
            <a:chOff x="0" y="0"/>
            <a:chExt cx="2303529" cy="294993"/>
          </a:xfrm>
        </p:grpSpPr>
        <p:sp>
          <p:nvSpPr>
            <p:cNvPr name="Freeform 6" id="6"/>
            <p:cNvSpPr/>
            <p:nvPr/>
          </p:nvSpPr>
          <p:spPr>
            <a:xfrm flipH="false" flipV="false" rot="0">
              <a:off x="0" y="0"/>
              <a:ext cx="2303529" cy="294993"/>
            </a:xfrm>
            <a:custGeom>
              <a:avLst/>
              <a:gdLst/>
              <a:ahLst/>
              <a:cxnLst/>
              <a:rect r="r" b="b" t="t" l="l"/>
              <a:pathLst>
                <a:path h="294993" w="2303529">
                  <a:moveTo>
                    <a:pt x="52086" y="0"/>
                  </a:moveTo>
                  <a:lnTo>
                    <a:pt x="2251442" y="0"/>
                  </a:lnTo>
                  <a:cubicBezTo>
                    <a:pt x="2265256" y="0"/>
                    <a:pt x="2278505" y="5488"/>
                    <a:pt x="2288273" y="15256"/>
                  </a:cubicBezTo>
                  <a:cubicBezTo>
                    <a:pt x="2298041" y="25024"/>
                    <a:pt x="2303529" y="38272"/>
                    <a:pt x="2303529" y="52086"/>
                  </a:cubicBezTo>
                  <a:lnTo>
                    <a:pt x="2303529" y="242907"/>
                  </a:lnTo>
                  <a:cubicBezTo>
                    <a:pt x="2303529" y="271673"/>
                    <a:pt x="2280209" y="294993"/>
                    <a:pt x="2251442" y="294993"/>
                  </a:cubicBezTo>
                  <a:lnTo>
                    <a:pt x="52086" y="294993"/>
                  </a:lnTo>
                  <a:cubicBezTo>
                    <a:pt x="23320" y="294993"/>
                    <a:pt x="0" y="271673"/>
                    <a:pt x="0" y="242907"/>
                  </a:cubicBezTo>
                  <a:lnTo>
                    <a:pt x="0" y="52086"/>
                  </a:lnTo>
                  <a:cubicBezTo>
                    <a:pt x="0" y="23320"/>
                    <a:pt x="23320" y="0"/>
                    <a:pt x="52086" y="0"/>
                  </a:cubicBezTo>
                  <a:close/>
                </a:path>
              </a:pathLst>
            </a:custGeom>
            <a:ln w="19050" cap="rnd">
              <a:solidFill>
                <a:srgbClr val="00B58F"/>
              </a:solidFill>
              <a:prstDash val="solid"/>
              <a:round/>
            </a:ln>
          </p:spPr>
        </p:sp>
        <p:sp>
          <p:nvSpPr>
            <p:cNvPr name="TextBox 7" id="7"/>
            <p:cNvSpPr txBox="true"/>
            <p:nvPr/>
          </p:nvSpPr>
          <p:spPr>
            <a:xfrm>
              <a:off x="0" y="-38100"/>
              <a:ext cx="2303529"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4324907" y="253054"/>
            <a:ext cx="10415544" cy="9284848"/>
          </a:xfrm>
          <a:custGeom>
            <a:avLst/>
            <a:gdLst/>
            <a:ahLst/>
            <a:cxnLst/>
            <a:rect r="r" b="b" t="t" l="l"/>
            <a:pathLst>
              <a:path h="9284848" w="10415544">
                <a:moveTo>
                  <a:pt x="0" y="0"/>
                </a:moveTo>
                <a:lnTo>
                  <a:pt x="10415544" y="0"/>
                </a:lnTo>
                <a:lnTo>
                  <a:pt x="10415544" y="9284847"/>
                </a:lnTo>
                <a:lnTo>
                  <a:pt x="0" y="9284847"/>
                </a:lnTo>
                <a:lnTo>
                  <a:pt x="0" y="0"/>
                </a:lnTo>
                <a:close/>
              </a:path>
            </a:pathLst>
          </a:custGeom>
          <a:blipFill>
            <a:blip r:embed="rId2"/>
            <a:stretch>
              <a:fillRect l="0" t="-550" r="0" b="-550"/>
            </a:stretch>
          </a:blipFill>
        </p:spPr>
      </p:sp>
      <p:sp>
        <p:nvSpPr>
          <p:cNvPr name="TextBox 9" id="9"/>
          <p:cNvSpPr txBox="true"/>
          <p:nvPr/>
        </p:nvSpPr>
        <p:spPr>
          <a:xfrm rot="0">
            <a:off x="7138081" y="148279"/>
            <a:ext cx="4789196" cy="853874"/>
          </a:xfrm>
          <a:prstGeom prst="rect">
            <a:avLst/>
          </a:prstGeom>
        </p:spPr>
        <p:txBody>
          <a:bodyPr anchor="t" rtlCol="false" tIns="0" lIns="0" bIns="0" rIns="0">
            <a:spAutoFit/>
          </a:bodyPr>
          <a:lstStyle/>
          <a:p>
            <a:pPr algn="ctr">
              <a:lnSpc>
                <a:spcPts val="6921"/>
              </a:lnSpc>
              <a:spcBef>
                <a:spcPct val="0"/>
              </a:spcBef>
            </a:pPr>
            <a:r>
              <a:rPr lang="en-US" sz="4943">
                <a:solidFill>
                  <a:srgbClr val="0B132B"/>
                </a:solidFill>
                <a:latin typeface="Bricolage Grotesque"/>
                <a:ea typeface="Bricolage Grotesque"/>
                <a:cs typeface="Bricolage Grotesque"/>
                <a:sym typeface="Bricolage Grotesque"/>
              </a:rPr>
              <a:t>CC </a:t>
            </a:r>
            <a:r>
              <a:rPr lang="en-US" sz="4943">
                <a:solidFill>
                  <a:srgbClr val="000000"/>
                </a:solidFill>
                <a:latin typeface="Bricolage Grotesque"/>
                <a:ea typeface="Bricolage Grotesque"/>
                <a:cs typeface="Bricolage Grotesque"/>
                <a:sym typeface="Bricolage Grotesque"/>
              </a:rPr>
              <a:t>METHOD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TextBox 2" id="2"/>
          <p:cNvSpPr txBox="true"/>
          <p:nvPr/>
        </p:nvSpPr>
        <p:spPr>
          <a:xfrm rot="0">
            <a:off x="167464" y="1493140"/>
            <a:ext cx="9341671" cy="848360"/>
          </a:xfrm>
          <a:prstGeom prst="rect">
            <a:avLst/>
          </a:prstGeom>
        </p:spPr>
        <p:txBody>
          <a:bodyPr anchor="t" rtlCol="false" tIns="0" lIns="0" bIns="0" rIns="0">
            <a:spAutoFit/>
          </a:bodyPr>
          <a:lstStyle/>
          <a:p>
            <a:pPr algn="l">
              <a:lnSpc>
                <a:spcPts val="6399"/>
              </a:lnSpc>
            </a:pPr>
            <a:r>
              <a:rPr lang="en-US" sz="6399">
                <a:solidFill>
                  <a:srgbClr val="0B132B"/>
                </a:solidFill>
                <a:latin typeface="Rubik One"/>
                <a:ea typeface="Rubik One"/>
                <a:cs typeface="Rubik One"/>
                <a:sym typeface="Rubik One"/>
              </a:rPr>
              <a:t>CV METHOD</a:t>
            </a:r>
          </a:p>
        </p:txBody>
      </p:sp>
      <p:grpSp>
        <p:nvGrpSpPr>
          <p:cNvPr name="Group 3" id="3"/>
          <p:cNvGrpSpPr/>
          <p:nvPr/>
        </p:nvGrpSpPr>
        <p:grpSpPr>
          <a:xfrm rot="0">
            <a:off x="-77413" y="0"/>
            <a:ext cx="1815721" cy="1369315"/>
            <a:chOff x="0" y="0"/>
            <a:chExt cx="528322" cy="398431"/>
          </a:xfrm>
        </p:grpSpPr>
        <p:sp>
          <p:nvSpPr>
            <p:cNvPr name="Freeform 4" id="4"/>
            <p:cNvSpPr/>
            <p:nvPr/>
          </p:nvSpPr>
          <p:spPr>
            <a:xfrm flipH="false" flipV="false" rot="0">
              <a:off x="24781" y="0"/>
              <a:ext cx="478760" cy="398431"/>
            </a:xfrm>
            <a:custGeom>
              <a:avLst/>
              <a:gdLst/>
              <a:ahLst/>
              <a:cxnLst/>
              <a:rect r="r" b="b" t="t" l="l"/>
              <a:pathLst>
                <a:path h="398431" w="478760">
                  <a:moveTo>
                    <a:pt x="242376" y="0"/>
                  </a:moveTo>
                  <a:lnTo>
                    <a:pt x="439584" y="0"/>
                  </a:lnTo>
                  <a:cubicBezTo>
                    <a:pt x="453217" y="0"/>
                    <a:pt x="465870" y="7088"/>
                    <a:pt x="472991" y="18713"/>
                  </a:cubicBezTo>
                  <a:cubicBezTo>
                    <a:pt x="480112" y="30339"/>
                    <a:pt x="480677" y="44831"/>
                    <a:pt x="474483" y="56976"/>
                  </a:cubicBezTo>
                  <a:lnTo>
                    <a:pt x="329399" y="341455"/>
                  </a:lnTo>
                  <a:cubicBezTo>
                    <a:pt x="311567" y="376420"/>
                    <a:pt x="275633" y="398431"/>
                    <a:pt x="236384" y="398431"/>
                  </a:cubicBezTo>
                  <a:lnTo>
                    <a:pt x="39176" y="398431"/>
                  </a:lnTo>
                  <a:cubicBezTo>
                    <a:pt x="25543" y="398431"/>
                    <a:pt x="12890" y="391343"/>
                    <a:pt x="5769" y="379718"/>
                  </a:cubicBezTo>
                  <a:cubicBezTo>
                    <a:pt x="-1352" y="368092"/>
                    <a:pt x="-1917" y="353600"/>
                    <a:pt x="4277" y="341455"/>
                  </a:cubicBezTo>
                  <a:lnTo>
                    <a:pt x="149361" y="56976"/>
                  </a:lnTo>
                  <a:cubicBezTo>
                    <a:pt x="167193" y="22011"/>
                    <a:pt x="203127" y="0"/>
                    <a:pt x="242376" y="0"/>
                  </a:cubicBezTo>
                  <a:close/>
                </a:path>
              </a:pathLst>
            </a:custGeom>
            <a:solidFill>
              <a:srgbClr val="2D8BBA"/>
            </a:solidFill>
          </p:spPr>
        </p:sp>
        <p:sp>
          <p:nvSpPr>
            <p:cNvPr name="TextBox 5" id="5"/>
            <p:cNvSpPr txBox="true"/>
            <p:nvPr/>
          </p:nvSpPr>
          <p:spPr>
            <a:xfrm>
              <a:off x="101600" y="-38100"/>
              <a:ext cx="325122" cy="43653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52176" y="55984"/>
            <a:ext cx="956542" cy="1313330"/>
          </a:xfrm>
          <a:custGeom>
            <a:avLst/>
            <a:gdLst/>
            <a:ahLst/>
            <a:cxnLst/>
            <a:rect r="r" b="b" t="t" l="l"/>
            <a:pathLst>
              <a:path h="1313330" w="956542">
                <a:moveTo>
                  <a:pt x="0" y="0"/>
                </a:moveTo>
                <a:lnTo>
                  <a:pt x="956543" y="0"/>
                </a:lnTo>
                <a:lnTo>
                  <a:pt x="956543" y="1313331"/>
                </a:lnTo>
                <a:lnTo>
                  <a:pt x="0" y="13133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451451" y="1284370"/>
            <a:ext cx="9960587" cy="1142074"/>
            <a:chOff x="0" y="0"/>
            <a:chExt cx="2572779" cy="294993"/>
          </a:xfrm>
        </p:grpSpPr>
        <p:sp>
          <p:nvSpPr>
            <p:cNvPr name="Freeform 8" id="8"/>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9" id="9"/>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5959063" y="-784283"/>
            <a:ext cx="8918177" cy="1142074"/>
            <a:chOff x="0" y="0"/>
            <a:chExt cx="2303529" cy="294993"/>
          </a:xfrm>
        </p:grpSpPr>
        <p:sp>
          <p:nvSpPr>
            <p:cNvPr name="Freeform 11" id="11"/>
            <p:cNvSpPr/>
            <p:nvPr/>
          </p:nvSpPr>
          <p:spPr>
            <a:xfrm flipH="false" flipV="false" rot="0">
              <a:off x="0" y="0"/>
              <a:ext cx="2303529" cy="294993"/>
            </a:xfrm>
            <a:custGeom>
              <a:avLst/>
              <a:gdLst/>
              <a:ahLst/>
              <a:cxnLst/>
              <a:rect r="r" b="b" t="t" l="l"/>
              <a:pathLst>
                <a:path h="294993" w="2303529">
                  <a:moveTo>
                    <a:pt x="52086" y="0"/>
                  </a:moveTo>
                  <a:lnTo>
                    <a:pt x="2251442" y="0"/>
                  </a:lnTo>
                  <a:cubicBezTo>
                    <a:pt x="2265256" y="0"/>
                    <a:pt x="2278505" y="5488"/>
                    <a:pt x="2288273" y="15256"/>
                  </a:cubicBezTo>
                  <a:cubicBezTo>
                    <a:pt x="2298041" y="25024"/>
                    <a:pt x="2303529" y="38272"/>
                    <a:pt x="2303529" y="52086"/>
                  </a:cubicBezTo>
                  <a:lnTo>
                    <a:pt x="2303529" y="242907"/>
                  </a:lnTo>
                  <a:cubicBezTo>
                    <a:pt x="2303529" y="271673"/>
                    <a:pt x="2280209" y="294993"/>
                    <a:pt x="2251442" y="294993"/>
                  </a:cubicBezTo>
                  <a:lnTo>
                    <a:pt x="52086" y="294993"/>
                  </a:lnTo>
                  <a:cubicBezTo>
                    <a:pt x="23320" y="294993"/>
                    <a:pt x="0" y="271673"/>
                    <a:pt x="0" y="242907"/>
                  </a:cubicBezTo>
                  <a:lnTo>
                    <a:pt x="0" y="52086"/>
                  </a:lnTo>
                  <a:cubicBezTo>
                    <a:pt x="0" y="23320"/>
                    <a:pt x="23320" y="0"/>
                    <a:pt x="52086" y="0"/>
                  </a:cubicBezTo>
                  <a:close/>
                </a:path>
              </a:pathLst>
            </a:custGeom>
            <a:ln w="19050" cap="rnd">
              <a:solidFill>
                <a:srgbClr val="00B58F"/>
              </a:solidFill>
              <a:prstDash val="solid"/>
              <a:round/>
            </a:ln>
          </p:spPr>
        </p:sp>
        <p:sp>
          <p:nvSpPr>
            <p:cNvPr name="TextBox 12" id="12"/>
            <p:cNvSpPr txBox="true"/>
            <p:nvPr/>
          </p:nvSpPr>
          <p:spPr>
            <a:xfrm>
              <a:off x="0" y="-38100"/>
              <a:ext cx="2303529"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6943040" y="1995708"/>
            <a:ext cx="11574318" cy="4687599"/>
          </a:xfrm>
          <a:custGeom>
            <a:avLst/>
            <a:gdLst/>
            <a:ahLst/>
            <a:cxnLst/>
            <a:rect r="r" b="b" t="t" l="l"/>
            <a:pathLst>
              <a:path h="4687599" w="11574318">
                <a:moveTo>
                  <a:pt x="0" y="0"/>
                </a:moveTo>
                <a:lnTo>
                  <a:pt x="11574318" y="0"/>
                </a:lnTo>
                <a:lnTo>
                  <a:pt x="11574318" y="4687599"/>
                </a:lnTo>
                <a:lnTo>
                  <a:pt x="0" y="4687599"/>
                </a:lnTo>
                <a:lnTo>
                  <a:pt x="0" y="0"/>
                </a:lnTo>
                <a:close/>
              </a:path>
            </a:pathLst>
          </a:custGeom>
          <a:blipFill>
            <a:blip r:embed="rId4"/>
            <a:stretch>
              <a:fillRect l="0" t="0" r="0" b="0"/>
            </a:stretch>
          </a:blipFill>
        </p:spPr>
      </p:sp>
      <p:sp>
        <p:nvSpPr>
          <p:cNvPr name="TextBox 14" id="14"/>
          <p:cNvSpPr txBox="true"/>
          <p:nvPr/>
        </p:nvSpPr>
        <p:spPr>
          <a:xfrm rot="0">
            <a:off x="-77413" y="2431592"/>
            <a:ext cx="6326673" cy="2285060"/>
          </a:xfrm>
          <a:prstGeom prst="rect">
            <a:avLst/>
          </a:prstGeom>
        </p:spPr>
        <p:txBody>
          <a:bodyPr anchor="t" rtlCol="false" tIns="0" lIns="0" bIns="0" rIns="0">
            <a:spAutoFit/>
          </a:bodyPr>
          <a:lstStyle/>
          <a:p>
            <a:pPr algn="ctr">
              <a:lnSpc>
                <a:spcPts val="3676"/>
              </a:lnSpc>
              <a:spcBef>
                <a:spcPct val="0"/>
              </a:spcBef>
            </a:pPr>
            <a:r>
              <a:rPr lang="en-US" sz="2626">
                <a:solidFill>
                  <a:srgbClr val="0B132B"/>
                </a:solidFill>
                <a:latin typeface="Bricolage Grotesque"/>
                <a:ea typeface="Bricolage Grotesque"/>
                <a:cs typeface="Bricolage Grotesque"/>
                <a:sym typeface="Bricolage Grotesque"/>
              </a:rPr>
              <a:t>Constant Voltage (CV) charging maintains a fixed voltage across the battery during charging. As the battery charges, the current gradually decreases while the voltage remains constant.</a:t>
            </a:r>
          </a:p>
        </p:txBody>
      </p:sp>
      <p:sp>
        <p:nvSpPr>
          <p:cNvPr name="TextBox 15" id="15"/>
          <p:cNvSpPr txBox="true"/>
          <p:nvPr/>
        </p:nvSpPr>
        <p:spPr>
          <a:xfrm rot="0">
            <a:off x="-77413" y="5086350"/>
            <a:ext cx="6326673" cy="4534672"/>
          </a:xfrm>
          <a:prstGeom prst="rect">
            <a:avLst/>
          </a:prstGeom>
        </p:spPr>
        <p:txBody>
          <a:bodyPr anchor="t" rtlCol="false" tIns="0" lIns="0" bIns="0" rIns="0">
            <a:spAutoFit/>
          </a:bodyPr>
          <a:lstStyle/>
          <a:p>
            <a:pPr algn="ctr" marL="559041" indent="-279520" lvl="1">
              <a:lnSpc>
                <a:spcPts val="3625"/>
              </a:lnSpc>
              <a:buFont typeface="Arial"/>
              <a:buChar char="•"/>
            </a:pPr>
            <a:r>
              <a:rPr lang="en-US" sz="2589">
                <a:solidFill>
                  <a:srgbClr val="0B132B"/>
                </a:solidFill>
                <a:latin typeface="Bricolage Grotesque"/>
                <a:ea typeface="Bricolage Grotesque"/>
                <a:cs typeface="Bricolage Grotesque"/>
                <a:sym typeface="Bricolage Grotesque"/>
              </a:rPr>
              <a:t>We observe that, In constant voltage charging, the voltage is maintained fixed, causing the charging current to gradually decrease.</a:t>
            </a:r>
          </a:p>
          <a:p>
            <a:pPr algn="ctr" marL="559041" indent="-279520" lvl="1">
              <a:lnSpc>
                <a:spcPts val="3625"/>
              </a:lnSpc>
              <a:buFont typeface="Arial"/>
              <a:buChar char="•"/>
            </a:pPr>
            <a:r>
              <a:rPr lang="en-US" sz="2589">
                <a:solidFill>
                  <a:srgbClr val="0B132B"/>
                </a:solidFill>
                <a:latin typeface="Bricolage Grotesque"/>
                <a:ea typeface="Bricolage Grotesque"/>
                <a:cs typeface="Bricolage Grotesque"/>
                <a:sym typeface="Bricolage Grotesque"/>
              </a:rPr>
              <a:t>This results in a very slow charging process, so it takes  long time to reach 100% state of charge (SOC).</a:t>
            </a:r>
          </a:p>
          <a:p>
            <a:pPr algn="ctr">
              <a:lnSpc>
                <a:spcPts val="3625"/>
              </a:lnSpc>
            </a:pPr>
          </a:p>
          <a:p>
            <a:pPr algn="ctr">
              <a:lnSpc>
                <a:spcPts val="3625"/>
              </a:lnSpc>
            </a:pPr>
          </a:p>
          <a:p>
            <a:pPr algn="ctr">
              <a:lnSpc>
                <a:spcPts val="3625"/>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1502671" y="9960324"/>
            <a:ext cx="9960587" cy="1142074"/>
            <a:chOff x="0" y="0"/>
            <a:chExt cx="2572779" cy="294993"/>
          </a:xfrm>
        </p:grpSpPr>
        <p:sp>
          <p:nvSpPr>
            <p:cNvPr name="Freeform 3" id="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4" id="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959063" y="-784283"/>
            <a:ext cx="8918177" cy="1142074"/>
            <a:chOff x="0" y="0"/>
            <a:chExt cx="2303529" cy="294993"/>
          </a:xfrm>
        </p:grpSpPr>
        <p:sp>
          <p:nvSpPr>
            <p:cNvPr name="Freeform 6" id="6"/>
            <p:cNvSpPr/>
            <p:nvPr/>
          </p:nvSpPr>
          <p:spPr>
            <a:xfrm flipH="false" flipV="false" rot="0">
              <a:off x="0" y="0"/>
              <a:ext cx="2303529" cy="294993"/>
            </a:xfrm>
            <a:custGeom>
              <a:avLst/>
              <a:gdLst/>
              <a:ahLst/>
              <a:cxnLst/>
              <a:rect r="r" b="b" t="t" l="l"/>
              <a:pathLst>
                <a:path h="294993" w="2303529">
                  <a:moveTo>
                    <a:pt x="52086" y="0"/>
                  </a:moveTo>
                  <a:lnTo>
                    <a:pt x="2251442" y="0"/>
                  </a:lnTo>
                  <a:cubicBezTo>
                    <a:pt x="2265256" y="0"/>
                    <a:pt x="2278505" y="5488"/>
                    <a:pt x="2288273" y="15256"/>
                  </a:cubicBezTo>
                  <a:cubicBezTo>
                    <a:pt x="2298041" y="25024"/>
                    <a:pt x="2303529" y="38272"/>
                    <a:pt x="2303529" y="52086"/>
                  </a:cubicBezTo>
                  <a:lnTo>
                    <a:pt x="2303529" y="242907"/>
                  </a:lnTo>
                  <a:cubicBezTo>
                    <a:pt x="2303529" y="271673"/>
                    <a:pt x="2280209" y="294993"/>
                    <a:pt x="2251442" y="294993"/>
                  </a:cubicBezTo>
                  <a:lnTo>
                    <a:pt x="52086" y="294993"/>
                  </a:lnTo>
                  <a:cubicBezTo>
                    <a:pt x="23320" y="294993"/>
                    <a:pt x="0" y="271673"/>
                    <a:pt x="0" y="242907"/>
                  </a:cubicBezTo>
                  <a:lnTo>
                    <a:pt x="0" y="52086"/>
                  </a:lnTo>
                  <a:cubicBezTo>
                    <a:pt x="0" y="23320"/>
                    <a:pt x="23320" y="0"/>
                    <a:pt x="52086" y="0"/>
                  </a:cubicBezTo>
                  <a:close/>
                </a:path>
              </a:pathLst>
            </a:custGeom>
            <a:ln w="19050" cap="rnd">
              <a:solidFill>
                <a:srgbClr val="00B58F"/>
              </a:solidFill>
              <a:prstDash val="solid"/>
              <a:round/>
            </a:ln>
          </p:spPr>
        </p:sp>
        <p:sp>
          <p:nvSpPr>
            <p:cNvPr name="TextBox 7" id="7"/>
            <p:cNvSpPr txBox="true"/>
            <p:nvPr/>
          </p:nvSpPr>
          <p:spPr>
            <a:xfrm>
              <a:off x="0" y="-38100"/>
              <a:ext cx="2303529"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028700" y="1728214"/>
            <a:ext cx="15638892" cy="8054029"/>
          </a:xfrm>
          <a:custGeom>
            <a:avLst/>
            <a:gdLst/>
            <a:ahLst/>
            <a:cxnLst/>
            <a:rect r="r" b="b" t="t" l="l"/>
            <a:pathLst>
              <a:path h="8054029" w="15638892">
                <a:moveTo>
                  <a:pt x="0" y="0"/>
                </a:moveTo>
                <a:lnTo>
                  <a:pt x="15638892" y="0"/>
                </a:lnTo>
                <a:lnTo>
                  <a:pt x="15638892" y="8054029"/>
                </a:lnTo>
                <a:lnTo>
                  <a:pt x="0" y="8054029"/>
                </a:lnTo>
                <a:lnTo>
                  <a:pt x="0" y="0"/>
                </a:lnTo>
                <a:close/>
              </a:path>
            </a:pathLst>
          </a:custGeom>
          <a:blipFill>
            <a:blip r:embed="rId2"/>
            <a:stretch>
              <a:fillRect l="0" t="0" r="0" b="0"/>
            </a:stretch>
          </a:blipFill>
        </p:spPr>
      </p:sp>
      <p:sp>
        <p:nvSpPr>
          <p:cNvPr name="TextBox 9" id="9"/>
          <p:cNvSpPr txBox="true"/>
          <p:nvPr/>
        </p:nvSpPr>
        <p:spPr>
          <a:xfrm rot="0">
            <a:off x="6524866" y="567757"/>
            <a:ext cx="4977806" cy="826636"/>
          </a:xfrm>
          <a:prstGeom prst="rect">
            <a:avLst/>
          </a:prstGeom>
        </p:spPr>
        <p:txBody>
          <a:bodyPr anchor="t" rtlCol="false" tIns="0" lIns="0" bIns="0" rIns="0">
            <a:spAutoFit/>
          </a:bodyPr>
          <a:lstStyle/>
          <a:p>
            <a:pPr algn="ctr">
              <a:lnSpc>
                <a:spcPts val="6823"/>
              </a:lnSpc>
              <a:spcBef>
                <a:spcPct val="0"/>
              </a:spcBef>
            </a:pPr>
            <a:r>
              <a:rPr lang="en-US" sz="4873">
                <a:solidFill>
                  <a:srgbClr val="000000"/>
                </a:solidFill>
                <a:latin typeface="Bricolage Grotesque"/>
                <a:ea typeface="Bricolage Grotesque"/>
                <a:cs typeface="Bricolage Grotesque"/>
                <a:sym typeface="Bricolage Grotesque"/>
              </a:rPr>
              <a:t>CV METHOD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08637"/>
            <a:ext cx="229386" cy="182674"/>
          </a:xfrm>
          <a:custGeom>
            <a:avLst/>
            <a:gdLst/>
            <a:ahLst/>
            <a:cxnLst/>
            <a:rect r="r" b="b" t="t" l="l"/>
            <a:pathLst>
              <a:path h="182674" w="229386">
                <a:moveTo>
                  <a:pt x="0" y="0"/>
                </a:moveTo>
                <a:lnTo>
                  <a:pt x="229386" y="0"/>
                </a:lnTo>
                <a:lnTo>
                  <a:pt x="229386" y="182675"/>
                </a:lnTo>
                <a:lnTo>
                  <a:pt x="0" y="1826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861423" y="1277669"/>
            <a:ext cx="9341671" cy="848360"/>
          </a:xfrm>
          <a:prstGeom prst="rect">
            <a:avLst/>
          </a:prstGeom>
        </p:spPr>
        <p:txBody>
          <a:bodyPr anchor="t" rtlCol="false" tIns="0" lIns="0" bIns="0" rIns="0">
            <a:spAutoFit/>
          </a:bodyPr>
          <a:lstStyle/>
          <a:p>
            <a:pPr algn="l">
              <a:lnSpc>
                <a:spcPts val="6399"/>
              </a:lnSpc>
            </a:pPr>
            <a:r>
              <a:rPr lang="en-US" sz="6399">
                <a:solidFill>
                  <a:srgbClr val="0B132B"/>
                </a:solidFill>
                <a:latin typeface="Rubik One"/>
                <a:ea typeface="Rubik One"/>
                <a:cs typeface="Rubik One"/>
                <a:sym typeface="Rubik One"/>
              </a:rPr>
              <a:t>CC-CV METHOD</a:t>
            </a:r>
          </a:p>
        </p:txBody>
      </p:sp>
      <p:grpSp>
        <p:nvGrpSpPr>
          <p:cNvPr name="Group 4" id="4"/>
          <p:cNvGrpSpPr/>
          <p:nvPr/>
        </p:nvGrpSpPr>
        <p:grpSpPr>
          <a:xfrm rot="0">
            <a:off x="45702" y="270622"/>
            <a:ext cx="1815721" cy="1369315"/>
            <a:chOff x="0" y="0"/>
            <a:chExt cx="528322" cy="398431"/>
          </a:xfrm>
        </p:grpSpPr>
        <p:sp>
          <p:nvSpPr>
            <p:cNvPr name="Freeform 5" id="5"/>
            <p:cNvSpPr/>
            <p:nvPr/>
          </p:nvSpPr>
          <p:spPr>
            <a:xfrm flipH="false" flipV="false" rot="0">
              <a:off x="24781" y="0"/>
              <a:ext cx="478760" cy="398431"/>
            </a:xfrm>
            <a:custGeom>
              <a:avLst/>
              <a:gdLst/>
              <a:ahLst/>
              <a:cxnLst/>
              <a:rect r="r" b="b" t="t" l="l"/>
              <a:pathLst>
                <a:path h="398431" w="478760">
                  <a:moveTo>
                    <a:pt x="242376" y="0"/>
                  </a:moveTo>
                  <a:lnTo>
                    <a:pt x="439584" y="0"/>
                  </a:lnTo>
                  <a:cubicBezTo>
                    <a:pt x="453217" y="0"/>
                    <a:pt x="465870" y="7088"/>
                    <a:pt x="472991" y="18713"/>
                  </a:cubicBezTo>
                  <a:cubicBezTo>
                    <a:pt x="480112" y="30339"/>
                    <a:pt x="480677" y="44831"/>
                    <a:pt x="474483" y="56976"/>
                  </a:cubicBezTo>
                  <a:lnTo>
                    <a:pt x="329399" y="341455"/>
                  </a:lnTo>
                  <a:cubicBezTo>
                    <a:pt x="311567" y="376420"/>
                    <a:pt x="275633" y="398431"/>
                    <a:pt x="236384" y="398431"/>
                  </a:cubicBezTo>
                  <a:lnTo>
                    <a:pt x="39176" y="398431"/>
                  </a:lnTo>
                  <a:cubicBezTo>
                    <a:pt x="25543" y="398431"/>
                    <a:pt x="12890" y="391343"/>
                    <a:pt x="5769" y="379718"/>
                  </a:cubicBezTo>
                  <a:cubicBezTo>
                    <a:pt x="-1352" y="368092"/>
                    <a:pt x="-1917" y="353600"/>
                    <a:pt x="4277" y="341455"/>
                  </a:cubicBezTo>
                  <a:lnTo>
                    <a:pt x="149361" y="56976"/>
                  </a:lnTo>
                  <a:cubicBezTo>
                    <a:pt x="167193" y="22011"/>
                    <a:pt x="203127" y="0"/>
                    <a:pt x="242376" y="0"/>
                  </a:cubicBezTo>
                  <a:close/>
                </a:path>
              </a:pathLst>
            </a:custGeom>
            <a:solidFill>
              <a:srgbClr val="FF914D"/>
            </a:solidFill>
          </p:spPr>
        </p:sp>
        <p:sp>
          <p:nvSpPr>
            <p:cNvPr name="TextBox 6" id="6"/>
            <p:cNvSpPr txBox="true"/>
            <p:nvPr/>
          </p:nvSpPr>
          <p:spPr>
            <a:xfrm>
              <a:off x="101600" y="-38100"/>
              <a:ext cx="325122" cy="436531"/>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69920" y="160012"/>
            <a:ext cx="941394" cy="1251442"/>
          </a:xfrm>
          <a:custGeom>
            <a:avLst/>
            <a:gdLst/>
            <a:ahLst/>
            <a:cxnLst/>
            <a:rect r="r" b="b" t="t" l="l"/>
            <a:pathLst>
              <a:path h="1251442" w="941394">
                <a:moveTo>
                  <a:pt x="0" y="0"/>
                </a:moveTo>
                <a:lnTo>
                  <a:pt x="941394" y="0"/>
                </a:lnTo>
                <a:lnTo>
                  <a:pt x="941394" y="1251441"/>
                </a:lnTo>
                <a:lnTo>
                  <a:pt x="0" y="12514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111314" y="2240329"/>
            <a:ext cx="16799999" cy="2696435"/>
          </a:xfrm>
          <a:prstGeom prst="rect">
            <a:avLst/>
          </a:prstGeom>
        </p:spPr>
        <p:txBody>
          <a:bodyPr anchor="t" rtlCol="false" tIns="0" lIns="0" bIns="0" rIns="0">
            <a:spAutoFit/>
          </a:bodyPr>
          <a:lstStyle/>
          <a:p>
            <a:pPr algn="l">
              <a:lnSpc>
                <a:spcPts val="3669"/>
              </a:lnSpc>
            </a:pPr>
            <a:r>
              <a:rPr lang="en-US" sz="2621" spc="65">
                <a:solidFill>
                  <a:srgbClr val="0B132B"/>
                </a:solidFill>
                <a:latin typeface="Bricolage Grotesque"/>
                <a:ea typeface="Bricolage Grotesque"/>
                <a:cs typeface="Bricolage Grotesque"/>
                <a:sym typeface="Bricolage Grotesque"/>
              </a:rPr>
              <a:t>CC–CV cha</a:t>
            </a:r>
            <a:r>
              <a:rPr lang="en-US" sz="2621" spc="65">
                <a:solidFill>
                  <a:srgbClr val="0B132B"/>
                </a:solidFill>
                <a:latin typeface="Bricolage Grotesque"/>
                <a:ea typeface="Bricolage Grotesque"/>
                <a:cs typeface="Bricolage Grotesque"/>
                <a:sym typeface="Bricolage Grotesque"/>
              </a:rPr>
              <a:t>rging is a two-stage method that combines constant current and constant voltage charging. In the first stage, the battery is charged with a constant current, causing the voltage to gradually increase. Once the battery reaches its set maximum voltage, the method switches to constant voltage mode. In this second stage, the voltage is kept constant while the current slowly decreases. This approach ensures efficient charging in the beginning and safer, controlled charging as the battery reaches full capacity.</a:t>
            </a:r>
          </a:p>
        </p:txBody>
      </p:sp>
      <p:grpSp>
        <p:nvGrpSpPr>
          <p:cNvPr name="Group 9" id="9"/>
          <p:cNvGrpSpPr/>
          <p:nvPr/>
        </p:nvGrpSpPr>
        <p:grpSpPr>
          <a:xfrm rot="0">
            <a:off x="11502671" y="9960324"/>
            <a:ext cx="9960587" cy="1142074"/>
            <a:chOff x="0" y="0"/>
            <a:chExt cx="2572779" cy="294993"/>
          </a:xfrm>
        </p:grpSpPr>
        <p:sp>
          <p:nvSpPr>
            <p:cNvPr name="Freeform 10" id="10"/>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11" id="11"/>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5959063" y="-784283"/>
            <a:ext cx="8918177" cy="1142074"/>
            <a:chOff x="0" y="0"/>
            <a:chExt cx="2303529" cy="294993"/>
          </a:xfrm>
        </p:grpSpPr>
        <p:sp>
          <p:nvSpPr>
            <p:cNvPr name="Freeform 13" id="13"/>
            <p:cNvSpPr/>
            <p:nvPr/>
          </p:nvSpPr>
          <p:spPr>
            <a:xfrm flipH="false" flipV="false" rot="0">
              <a:off x="0" y="0"/>
              <a:ext cx="2303529" cy="294993"/>
            </a:xfrm>
            <a:custGeom>
              <a:avLst/>
              <a:gdLst/>
              <a:ahLst/>
              <a:cxnLst/>
              <a:rect r="r" b="b" t="t" l="l"/>
              <a:pathLst>
                <a:path h="294993" w="2303529">
                  <a:moveTo>
                    <a:pt x="52086" y="0"/>
                  </a:moveTo>
                  <a:lnTo>
                    <a:pt x="2251442" y="0"/>
                  </a:lnTo>
                  <a:cubicBezTo>
                    <a:pt x="2265256" y="0"/>
                    <a:pt x="2278505" y="5488"/>
                    <a:pt x="2288273" y="15256"/>
                  </a:cubicBezTo>
                  <a:cubicBezTo>
                    <a:pt x="2298041" y="25024"/>
                    <a:pt x="2303529" y="38272"/>
                    <a:pt x="2303529" y="52086"/>
                  </a:cubicBezTo>
                  <a:lnTo>
                    <a:pt x="2303529" y="242907"/>
                  </a:lnTo>
                  <a:cubicBezTo>
                    <a:pt x="2303529" y="271673"/>
                    <a:pt x="2280209" y="294993"/>
                    <a:pt x="2251442" y="294993"/>
                  </a:cubicBezTo>
                  <a:lnTo>
                    <a:pt x="52086" y="294993"/>
                  </a:lnTo>
                  <a:cubicBezTo>
                    <a:pt x="23320" y="294993"/>
                    <a:pt x="0" y="271673"/>
                    <a:pt x="0" y="242907"/>
                  </a:cubicBezTo>
                  <a:lnTo>
                    <a:pt x="0" y="52086"/>
                  </a:lnTo>
                  <a:cubicBezTo>
                    <a:pt x="0" y="23320"/>
                    <a:pt x="23320" y="0"/>
                    <a:pt x="52086" y="0"/>
                  </a:cubicBezTo>
                  <a:close/>
                </a:path>
              </a:pathLst>
            </a:custGeom>
            <a:ln w="19050" cap="rnd">
              <a:solidFill>
                <a:srgbClr val="00B58F"/>
              </a:solidFill>
              <a:prstDash val="solid"/>
              <a:round/>
            </a:ln>
          </p:spPr>
        </p:sp>
        <p:sp>
          <p:nvSpPr>
            <p:cNvPr name="TextBox 14" id="14"/>
            <p:cNvSpPr txBox="true"/>
            <p:nvPr/>
          </p:nvSpPr>
          <p:spPr>
            <a:xfrm>
              <a:off x="0" y="-38100"/>
              <a:ext cx="2303529" cy="333093"/>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520057" y="5755914"/>
            <a:ext cx="16305738" cy="881663"/>
          </a:xfrm>
          <a:prstGeom prst="rect">
            <a:avLst/>
          </a:prstGeom>
        </p:spPr>
        <p:txBody>
          <a:bodyPr anchor="t" rtlCol="false" tIns="0" lIns="0" bIns="0" rIns="0">
            <a:spAutoFit/>
          </a:bodyPr>
          <a:lstStyle/>
          <a:p>
            <a:pPr algn="ctr">
              <a:lnSpc>
                <a:spcPts val="3546"/>
              </a:lnSpc>
            </a:pPr>
            <a:r>
              <a:rPr lang="en-US" sz="2532">
                <a:solidFill>
                  <a:srgbClr val="0B132B"/>
                </a:solidFill>
                <a:latin typeface="Bricolage Grotesque"/>
                <a:ea typeface="Bricolage Grotesque"/>
                <a:cs typeface="Bricolage Grotesque"/>
                <a:sym typeface="Bricolage Grotesque"/>
              </a:rPr>
              <a:t>In this method we are able to control the overcharging and can reduce the charging time</a:t>
            </a:r>
          </a:p>
          <a:p>
            <a:pPr algn="ctr">
              <a:lnSpc>
                <a:spcPts val="3546"/>
              </a:lnSpc>
              <a:spcBef>
                <a:spcPct val="0"/>
              </a:spcBef>
            </a:pPr>
          </a:p>
        </p:txBody>
      </p:sp>
      <p:sp>
        <p:nvSpPr>
          <p:cNvPr name="TextBox 16" id="16"/>
          <p:cNvSpPr txBox="true"/>
          <p:nvPr/>
        </p:nvSpPr>
        <p:spPr>
          <a:xfrm rot="0">
            <a:off x="953562" y="7037627"/>
            <a:ext cx="16579752" cy="377041"/>
          </a:xfrm>
          <a:prstGeom prst="rect">
            <a:avLst/>
          </a:prstGeom>
        </p:spPr>
        <p:txBody>
          <a:bodyPr anchor="t" rtlCol="false" tIns="0" lIns="0" bIns="0" rIns="0">
            <a:spAutoFit/>
          </a:bodyPr>
          <a:lstStyle/>
          <a:p>
            <a:pPr algn="ctr">
              <a:lnSpc>
                <a:spcPts val="3073"/>
              </a:lnSpc>
              <a:spcBef>
                <a:spcPct val="0"/>
              </a:spcBef>
            </a:pPr>
            <a:r>
              <a:rPr lang="en-US" sz="2195">
                <a:solidFill>
                  <a:srgbClr val="0B132B"/>
                </a:solidFill>
                <a:latin typeface="Bricolage Grotesque"/>
                <a:ea typeface="Bricolage Grotesque"/>
                <a:cs typeface="Bricolage Grotesque"/>
                <a:sym typeface="Bricolage Grotesque"/>
              </a:rPr>
              <a:t>But the charging control is more complex, requiring precise switching between constant current and constant voltage modes.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08637"/>
            <a:ext cx="229386" cy="182674"/>
          </a:xfrm>
          <a:custGeom>
            <a:avLst/>
            <a:gdLst/>
            <a:ahLst/>
            <a:cxnLst/>
            <a:rect r="r" b="b" t="t" l="l"/>
            <a:pathLst>
              <a:path h="182674" w="229386">
                <a:moveTo>
                  <a:pt x="0" y="0"/>
                </a:moveTo>
                <a:lnTo>
                  <a:pt x="229386" y="0"/>
                </a:lnTo>
                <a:lnTo>
                  <a:pt x="229386" y="182675"/>
                </a:lnTo>
                <a:lnTo>
                  <a:pt x="0" y="1826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5702" y="270622"/>
            <a:ext cx="1815721" cy="1369315"/>
            <a:chOff x="0" y="0"/>
            <a:chExt cx="528322" cy="398431"/>
          </a:xfrm>
        </p:grpSpPr>
        <p:sp>
          <p:nvSpPr>
            <p:cNvPr name="Freeform 4" id="4"/>
            <p:cNvSpPr/>
            <p:nvPr/>
          </p:nvSpPr>
          <p:spPr>
            <a:xfrm flipH="false" flipV="false" rot="0">
              <a:off x="24781" y="0"/>
              <a:ext cx="478760" cy="398431"/>
            </a:xfrm>
            <a:custGeom>
              <a:avLst/>
              <a:gdLst/>
              <a:ahLst/>
              <a:cxnLst/>
              <a:rect r="r" b="b" t="t" l="l"/>
              <a:pathLst>
                <a:path h="398431" w="478760">
                  <a:moveTo>
                    <a:pt x="242376" y="0"/>
                  </a:moveTo>
                  <a:lnTo>
                    <a:pt x="439584" y="0"/>
                  </a:lnTo>
                  <a:cubicBezTo>
                    <a:pt x="453217" y="0"/>
                    <a:pt x="465870" y="7088"/>
                    <a:pt x="472991" y="18713"/>
                  </a:cubicBezTo>
                  <a:cubicBezTo>
                    <a:pt x="480112" y="30339"/>
                    <a:pt x="480677" y="44831"/>
                    <a:pt x="474483" y="56976"/>
                  </a:cubicBezTo>
                  <a:lnTo>
                    <a:pt x="329399" y="341455"/>
                  </a:lnTo>
                  <a:cubicBezTo>
                    <a:pt x="311567" y="376420"/>
                    <a:pt x="275633" y="398431"/>
                    <a:pt x="236384" y="398431"/>
                  </a:cubicBezTo>
                  <a:lnTo>
                    <a:pt x="39176" y="398431"/>
                  </a:lnTo>
                  <a:cubicBezTo>
                    <a:pt x="25543" y="398431"/>
                    <a:pt x="12890" y="391343"/>
                    <a:pt x="5769" y="379718"/>
                  </a:cubicBezTo>
                  <a:cubicBezTo>
                    <a:pt x="-1352" y="368092"/>
                    <a:pt x="-1917" y="353600"/>
                    <a:pt x="4277" y="341455"/>
                  </a:cubicBezTo>
                  <a:lnTo>
                    <a:pt x="149361" y="56976"/>
                  </a:lnTo>
                  <a:cubicBezTo>
                    <a:pt x="167193" y="22011"/>
                    <a:pt x="203127" y="0"/>
                    <a:pt x="242376" y="0"/>
                  </a:cubicBezTo>
                  <a:close/>
                </a:path>
              </a:pathLst>
            </a:custGeom>
            <a:solidFill>
              <a:srgbClr val="FF914D"/>
            </a:solidFill>
          </p:spPr>
        </p:sp>
        <p:sp>
          <p:nvSpPr>
            <p:cNvPr name="TextBox 5" id="5"/>
            <p:cNvSpPr txBox="true"/>
            <p:nvPr/>
          </p:nvSpPr>
          <p:spPr>
            <a:xfrm>
              <a:off x="101600" y="-38100"/>
              <a:ext cx="325122" cy="43653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9920" y="160012"/>
            <a:ext cx="941394" cy="1251442"/>
          </a:xfrm>
          <a:custGeom>
            <a:avLst/>
            <a:gdLst/>
            <a:ahLst/>
            <a:cxnLst/>
            <a:rect r="r" b="b" t="t" l="l"/>
            <a:pathLst>
              <a:path h="1251442" w="941394">
                <a:moveTo>
                  <a:pt x="0" y="0"/>
                </a:moveTo>
                <a:lnTo>
                  <a:pt x="941394" y="0"/>
                </a:lnTo>
                <a:lnTo>
                  <a:pt x="941394" y="1251441"/>
                </a:lnTo>
                <a:lnTo>
                  <a:pt x="0" y="12514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1502671" y="9960324"/>
            <a:ext cx="9960587" cy="1142074"/>
            <a:chOff x="0" y="0"/>
            <a:chExt cx="2572779" cy="294993"/>
          </a:xfrm>
        </p:grpSpPr>
        <p:sp>
          <p:nvSpPr>
            <p:cNvPr name="Freeform 8" id="8"/>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9" id="9"/>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5959063" y="-784283"/>
            <a:ext cx="8918177" cy="1142074"/>
            <a:chOff x="0" y="0"/>
            <a:chExt cx="2303529" cy="294993"/>
          </a:xfrm>
        </p:grpSpPr>
        <p:sp>
          <p:nvSpPr>
            <p:cNvPr name="Freeform 11" id="11"/>
            <p:cNvSpPr/>
            <p:nvPr/>
          </p:nvSpPr>
          <p:spPr>
            <a:xfrm flipH="false" flipV="false" rot="0">
              <a:off x="0" y="0"/>
              <a:ext cx="2303529" cy="294993"/>
            </a:xfrm>
            <a:custGeom>
              <a:avLst/>
              <a:gdLst/>
              <a:ahLst/>
              <a:cxnLst/>
              <a:rect r="r" b="b" t="t" l="l"/>
              <a:pathLst>
                <a:path h="294993" w="2303529">
                  <a:moveTo>
                    <a:pt x="52086" y="0"/>
                  </a:moveTo>
                  <a:lnTo>
                    <a:pt x="2251442" y="0"/>
                  </a:lnTo>
                  <a:cubicBezTo>
                    <a:pt x="2265256" y="0"/>
                    <a:pt x="2278505" y="5488"/>
                    <a:pt x="2288273" y="15256"/>
                  </a:cubicBezTo>
                  <a:cubicBezTo>
                    <a:pt x="2298041" y="25024"/>
                    <a:pt x="2303529" y="38272"/>
                    <a:pt x="2303529" y="52086"/>
                  </a:cubicBezTo>
                  <a:lnTo>
                    <a:pt x="2303529" y="242907"/>
                  </a:lnTo>
                  <a:cubicBezTo>
                    <a:pt x="2303529" y="271673"/>
                    <a:pt x="2280209" y="294993"/>
                    <a:pt x="2251442" y="294993"/>
                  </a:cubicBezTo>
                  <a:lnTo>
                    <a:pt x="52086" y="294993"/>
                  </a:lnTo>
                  <a:cubicBezTo>
                    <a:pt x="23320" y="294993"/>
                    <a:pt x="0" y="271673"/>
                    <a:pt x="0" y="242907"/>
                  </a:cubicBezTo>
                  <a:lnTo>
                    <a:pt x="0" y="52086"/>
                  </a:lnTo>
                  <a:cubicBezTo>
                    <a:pt x="0" y="23320"/>
                    <a:pt x="23320" y="0"/>
                    <a:pt x="52086" y="0"/>
                  </a:cubicBezTo>
                  <a:close/>
                </a:path>
              </a:pathLst>
            </a:custGeom>
            <a:ln w="19050" cap="rnd">
              <a:solidFill>
                <a:srgbClr val="00B58F"/>
              </a:solidFill>
              <a:prstDash val="solid"/>
              <a:round/>
            </a:ln>
          </p:spPr>
        </p:sp>
        <p:sp>
          <p:nvSpPr>
            <p:cNvPr name="TextBox 12" id="12"/>
            <p:cNvSpPr txBox="true"/>
            <p:nvPr/>
          </p:nvSpPr>
          <p:spPr>
            <a:xfrm>
              <a:off x="0" y="-38100"/>
              <a:ext cx="2303529"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258086" y="1825567"/>
            <a:ext cx="15840782" cy="8134757"/>
          </a:xfrm>
          <a:custGeom>
            <a:avLst/>
            <a:gdLst/>
            <a:ahLst/>
            <a:cxnLst/>
            <a:rect r="r" b="b" t="t" l="l"/>
            <a:pathLst>
              <a:path h="8134757" w="15840782">
                <a:moveTo>
                  <a:pt x="0" y="0"/>
                </a:moveTo>
                <a:lnTo>
                  <a:pt x="15840782" y="0"/>
                </a:lnTo>
                <a:lnTo>
                  <a:pt x="15840782" y="8134757"/>
                </a:lnTo>
                <a:lnTo>
                  <a:pt x="0" y="8134757"/>
                </a:lnTo>
                <a:lnTo>
                  <a:pt x="0" y="0"/>
                </a:lnTo>
                <a:close/>
              </a:path>
            </a:pathLst>
          </a:custGeom>
          <a:blipFill>
            <a:blip r:embed="rId6"/>
            <a:stretch>
              <a:fillRect l="-15113" t="0" r="-3966" b="0"/>
            </a:stretch>
          </a:blipFill>
        </p:spPr>
      </p:sp>
      <p:sp>
        <p:nvSpPr>
          <p:cNvPr name="TextBox 14" id="14"/>
          <p:cNvSpPr txBox="true"/>
          <p:nvPr/>
        </p:nvSpPr>
        <p:spPr>
          <a:xfrm rot="0">
            <a:off x="5017941" y="426705"/>
            <a:ext cx="7661982" cy="1398862"/>
          </a:xfrm>
          <a:prstGeom prst="rect">
            <a:avLst/>
          </a:prstGeom>
        </p:spPr>
        <p:txBody>
          <a:bodyPr anchor="t" rtlCol="false" tIns="0" lIns="0" bIns="0" rIns="0">
            <a:spAutoFit/>
          </a:bodyPr>
          <a:lstStyle/>
          <a:p>
            <a:pPr algn="ctr">
              <a:lnSpc>
                <a:spcPts val="11540"/>
              </a:lnSpc>
              <a:spcBef>
                <a:spcPct val="0"/>
              </a:spcBef>
            </a:pPr>
            <a:r>
              <a:rPr lang="en-US" sz="8242">
                <a:solidFill>
                  <a:srgbClr val="000000"/>
                </a:solidFill>
                <a:latin typeface="Bricolage Grotesque"/>
                <a:ea typeface="Bricolage Grotesque"/>
                <a:cs typeface="Bricolage Grotesque"/>
                <a:sym typeface="Bricolage Grotesque"/>
              </a:rPr>
              <a:t>CC-CV METHOD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1502671" y="9960324"/>
            <a:ext cx="9960587" cy="1142074"/>
            <a:chOff x="0" y="0"/>
            <a:chExt cx="2572779" cy="294993"/>
          </a:xfrm>
        </p:grpSpPr>
        <p:sp>
          <p:nvSpPr>
            <p:cNvPr name="Freeform 3" id="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4" id="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959063" y="-784283"/>
            <a:ext cx="8918177" cy="1142074"/>
            <a:chOff x="0" y="0"/>
            <a:chExt cx="2303529" cy="294993"/>
          </a:xfrm>
        </p:grpSpPr>
        <p:sp>
          <p:nvSpPr>
            <p:cNvPr name="Freeform 6" id="6"/>
            <p:cNvSpPr/>
            <p:nvPr/>
          </p:nvSpPr>
          <p:spPr>
            <a:xfrm flipH="false" flipV="false" rot="0">
              <a:off x="0" y="0"/>
              <a:ext cx="2303529" cy="294993"/>
            </a:xfrm>
            <a:custGeom>
              <a:avLst/>
              <a:gdLst/>
              <a:ahLst/>
              <a:cxnLst/>
              <a:rect r="r" b="b" t="t" l="l"/>
              <a:pathLst>
                <a:path h="294993" w="2303529">
                  <a:moveTo>
                    <a:pt x="52086" y="0"/>
                  </a:moveTo>
                  <a:lnTo>
                    <a:pt x="2251442" y="0"/>
                  </a:lnTo>
                  <a:cubicBezTo>
                    <a:pt x="2265256" y="0"/>
                    <a:pt x="2278505" y="5488"/>
                    <a:pt x="2288273" y="15256"/>
                  </a:cubicBezTo>
                  <a:cubicBezTo>
                    <a:pt x="2298041" y="25024"/>
                    <a:pt x="2303529" y="38272"/>
                    <a:pt x="2303529" y="52086"/>
                  </a:cubicBezTo>
                  <a:lnTo>
                    <a:pt x="2303529" y="242907"/>
                  </a:lnTo>
                  <a:cubicBezTo>
                    <a:pt x="2303529" y="271673"/>
                    <a:pt x="2280209" y="294993"/>
                    <a:pt x="2251442" y="294993"/>
                  </a:cubicBezTo>
                  <a:lnTo>
                    <a:pt x="52086" y="294993"/>
                  </a:lnTo>
                  <a:cubicBezTo>
                    <a:pt x="23320" y="294993"/>
                    <a:pt x="0" y="271673"/>
                    <a:pt x="0" y="242907"/>
                  </a:cubicBezTo>
                  <a:lnTo>
                    <a:pt x="0" y="52086"/>
                  </a:lnTo>
                  <a:cubicBezTo>
                    <a:pt x="0" y="23320"/>
                    <a:pt x="23320" y="0"/>
                    <a:pt x="52086" y="0"/>
                  </a:cubicBezTo>
                  <a:close/>
                </a:path>
              </a:pathLst>
            </a:custGeom>
            <a:ln w="19050" cap="rnd">
              <a:solidFill>
                <a:srgbClr val="00B58F"/>
              </a:solidFill>
              <a:prstDash val="solid"/>
              <a:round/>
            </a:ln>
          </p:spPr>
        </p:sp>
        <p:sp>
          <p:nvSpPr>
            <p:cNvPr name="TextBox 7" id="7"/>
            <p:cNvSpPr txBox="true"/>
            <p:nvPr/>
          </p:nvSpPr>
          <p:spPr>
            <a:xfrm>
              <a:off x="0" y="-38100"/>
              <a:ext cx="2303529"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604128" y="1028700"/>
            <a:ext cx="13079744" cy="8616281"/>
          </a:xfrm>
          <a:custGeom>
            <a:avLst/>
            <a:gdLst/>
            <a:ahLst/>
            <a:cxnLst/>
            <a:rect r="r" b="b" t="t" l="l"/>
            <a:pathLst>
              <a:path h="8616281" w="13079744">
                <a:moveTo>
                  <a:pt x="0" y="0"/>
                </a:moveTo>
                <a:lnTo>
                  <a:pt x="13079744" y="0"/>
                </a:lnTo>
                <a:lnTo>
                  <a:pt x="13079744" y="8616281"/>
                </a:lnTo>
                <a:lnTo>
                  <a:pt x="0" y="8616281"/>
                </a:lnTo>
                <a:lnTo>
                  <a:pt x="0" y="0"/>
                </a:lnTo>
                <a:close/>
              </a:path>
            </a:pathLst>
          </a:custGeom>
          <a:blipFill>
            <a:blip r:embed="rId2"/>
            <a:stretch>
              <a:fillRect l="0" t="0" r="0" b="0"/>
            </a:stretch>
          </a:blipFill>
        </p:spPr>
      </p:sp>
      <p:sp>
        <p:nvSpPr>
          <p:cNvPr name="TextBox 9" id="9"/>
          <p:cNvSpPr txBox="true"/>
          <p:nvPr/>
        </p:nvSpPr>
        <p:spPr>
          <a:xfrm rot="0">
            <a:off x="6345342" y="-85725"/>
            <a:ext cx="5722407" cy="819925"/>
          </a:xfrm>
          <a:prstGeom prst="rect">
            <a:avLst/>
          </a:prstGeom>
        </p:spPr>
        <p:txBody>
          <a:bodyPr anchor="t" rtlCol="false" tIns="0" lIns="0" bIns="0" rIns="0">
            <a:spAutoFit/>
          </a:bodyPr>
          <a:lstStyle/>
          <a:p>
            <a:pPr algn="ctr">
              <a:lnSpc>
                <a:spcPts val="6782"/>
              </a:lnSpc>
              <a:spcBef>
                <a:spcPct val="0"/>
              </a:spcBef>
            </a:pPr>
            <a:r>
              <a:rPr lang="en-US" sz="4844">
                <a:solidFill>
                  <a:srgbClr val="000000"/>
                </a:solidFill>
                <a:latin typeface="Bricolage Grotesque"/>
                <a:ea typeface="Bricolage Grotesque"/>
                <a:cs typeface="Bricolage Grotesque"/>
                <a:sym typeface="Bricolage Grotesque"/>
              </a:rPr>
              <a:t>CC-CV METHOD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08637"/>
            <a:ext cx="229386" cy="182674"/>
          </a:xfrm>
          <a:custGeom>
            <a:avLst/>
            <a:gdLst/>
            <a:ahLst/>
            <a:cxnLst/>
            <a:rect r="r" b="b" t="t" l="l"/>
            <a:pathLst>
              <a:path h="182674" w="229386">
                <a:moveTo>
                  <a:pt x="0" y="0"/>
                </a:moveTo>
                <a:lnTo>
                  <a:pt x="229386" y="0"/>
                </a:lnTo>
                <a:lnTo>
                  <a:pt x="229386" y="182675"/>
                </a:lnTo>
                <a:lnTo>
                  <a:pt x="0" y="1826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143393" y="1565501"/>
            <a:ext cx="9341671" cy="848360"/>
          </a:xfrm>
          <a:prstGeom prst="rect">
            <a:avLst/>
          </a:prstGeom>
        </p:spPr>
        <p:txBody>
          <a:bodyPr anchor="t" rtlCol="false" tIns="0" lIns="0" bIns="0" rIns="0">
            <a:spAutoFit/>
          </a:bodyPr>
          <a:lstStyle/>
          <a:p>
            <a:pPr algn="l">
              <a:lnSpc>
                <a:spcPts val="6399"/>
              </a:lnSpc>
            </a:pPr>
            <a:r>
              <a:rPr lang="en-US" sz="6399">
                <a:solidFill>
                  <a:srgbClr val="0B132B"/>
                </a:solidFill>
                <a:latin typeface="Rubik One"/>
                <a:ea typeface="Rubik One"/>
                <a:cs typeface="Rubik One"/>
                <a:sym typeface="Rubik One"/>
              </a:rPr>
              <a:t>CT-CV METHOD</a:t>
            </a:r>
          </a:p>
        </p:txBody>
      </p:sp>
      <p:grpSp>
        <p:nvGrpSpPr>
          <p:cNvPr name="Group 4" id="4"/>
          <p:cNvGrpSpPr/>
          <p:nvPr/>
        </p:nvGrpSpPr>
        <p:grpSpPr>
          <a:xfrm rot="0">
            <a:off x="120840" y="215317"/>
            <a:ext cx="1815721" cy="1369315"/>
            <a:chOff x="0" y="0"/>
            <a:chExt cx="528322" cy="398431"/>
          </a:xfrm>
        </p:grpSpPr>
        <p:sp>
          <p:nvSpPr>
            <p:cNvPr name="Freeform 5" id="5"/>
            <p:cNvSpPr/>
            <p:nvPr/>
          </p:nvSpPr>
          <p:spPr>
            <a:xfrm flipH="false" flipV="false" rot="0">
              <a:off x="24781" y="0"/>
              <a:ext cx="478760" cy="398431"/>
            </a:xfrm>
            <a:custGeom>
              <a:avLst/>
              <a:gdLst/>
              <a:ahLst/>
              <a:cxnLst/>
              <a:rect r="r" b="b" t="t" l="l"/>
              <a:pathLst>
                <a:path h="398431" w="478760">
                  <a:moveTo>
                    <a:pt x="242376" y="0"/>
                  </a:moveTo>
                  <a:lnTo>
                    <a:pt x="439584" y="0"/>
                  </a:lnTo>
                  <a:cubicBezTo>
                    <a:pt x="453217" y="0"/>
                    <a:pt x="465870" y="7088"/>
                    <a:pt x="472991" y="18713"/>
                  </a:cubicBezTo>
                  <a:cubicBezTo>
                    <a:pt x="480112" y="30339"/>
                    <a:pt x="480677" y="44831"/>
                    <a:pt x="474483" y="56976"/>
                  </a:cubicBezTo>
                  <a:lnTo>
                    <a:pt x="329399" y="341455"/>
                  </a:lnTo>
                  <a:cubicBezTo>
                    <a:pt x="311567" y="376420"/>
                    <a:pt x="275633" y="398431"/>
                    <a:pt x="236384" y="398431"/>
                  </a:cubicBezTo>
                  <a:lnTo>
                    <a:pt x="39176" y="398431"/>
                  </a:lnTo>
                  <a:cubicBezTo>
                    <a:pt x="25543" y="398431"/>
                    <a:pt x="12890" y="391343"/>
                    <a:pt x="5769" y="379718"/>
                  </a:cubicBezTo>
                  <a:cubicBezTo>
                    <a:pt x="-1352" y="368092"/>
                    <a:pt x="-1917" y="353600"/>
                    <a:pt x="4277" y="341455"/>
                  </a:cubicBezTo>
                  <a:lnTo>
                    <a:pt x="149361" y="56976"/>
                  </a:lnTo>
                  <a:cubicBezTo>
                    <a:pt x="167193" y="22011"/>
                    <a:pt x="203127" y="0"/>
                    <a:pt x="242376" y="0"/>
                  </a:cubicBezTo>
                  <a:close/>
                </a:path>
              </a:pathLst>
            </a:custGeom>
            <a:solidFill>
              <a:srgbClr val="00B58F"/>
            </a:solidFill>
          </p:spPr>
        </p:sp>
        <p:sp>
          <p:nvSpPr>
            <p:cNvPr name="TextBox 6" id="6"/>
            <p:cNvSpPr txBox="true"/>
            <p:nvPr/>
          </p:nvSpPr>
          <p:spPr>
            <a:xfrm>
              <a:off x="101600" y="-38100"/>
              <a:ext cx="325122" cy="436531"/>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235533" y="361565"/>
            <a:ext cx="1092008" cy="869635"/>
          </a:xfrm>
          <a:custGeom>
            <a:avLst/>
            <a:gdLst/>
            <a:ahLst/>
            <a:cxnLst/>
            <a:rect r="r" b="b" t="t" l="l"/>
            <a:pathLst>
              <a:path h="869635" w="1092008">
                <a:moveTo>
                  <a:pt x="0" y="0"/>
                </a:moveTo>
                <a:lnTo>
                  <a:pt x="1092008" y="0"/>
                </a:lnTo>
                <a:lnTo>
                  <a:pt x="1092008" y="869635"/>
                </a:lnTo>
                <a:lnTo>
                  <a:pt x="0" y="8696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534961" y="2547211"/>
            <a:ext cx="17367058" cy="3105090"/>
          </a:xfrm>
          <a:prstGeom prst="rect">
            <a:avLst/>
          </a:prstGeom>
        </p:spPr>
        <p:txBody>
          <a:bodyPr anchor="t" rtlCol="false" tIns="0" lIns="0" bIns="0" rIns="0">
            <a:spAutoFit/>
          </a:bodyPr>
          <a:lstStyle/>
          <a:p>
            <a:pPr algn="l">
              <a:lnSpc>
                <a:spcPts val="5061"/>
              </a:lnSpc>
            </a:pPr>
            <a:r>
              <a:rPr lang="en-US" sz="3615" spc="90">
                <a:solidFill>
                  <a:srgbClr val="0B132B"/>
                </a:solidFill>
                <a:latin typeface="Bricolage Grotesque"/>
                <a:ea typeface="Bricolage Grotesque"/>
                <a:cs typeface="Bricolage Grotesque"/>
                <a:sym typeface="Bricolage Grotesque"/>
              </a:rPr>
              <a:t>CT–CV charging c</a:t>
            </a:r>
            <a:r>
              <a:rPr lang="en-US" sz="3615" spc="90">
                <a:solidFill>
                  <a:srgbClr val="0B132B"/>
                </a:solidFill>
                <a:latin typeface="Bricolage Grotesque"/>
                <a:ea typeface="Bricolage Grotesque"/>
                <a:cs typeface="Bricolage Grotesque"/>
                <a:sym typeface="Bricolage Grotesque"/>
              </a:rPr>
              <a:t>ombines temperature-based control with constant voltage charging. In the initial stage, the charging current is adjusted based on the battery’s temperature to prevent overheating. As the battery approaches its safe voltage limit, the method switches to constant voltage mode. In this stage, the voltage is held constant while the current gradually decreases</a:t>
            </a:r>
          </a:p>
        </p:txBody>
      </p:sp>
      <p:grpSp>
        <p:nvGrpSpPr>
          <p:cNvPr name="Group 9" id="9"/>
          <p:cNvGrpSpPr/>
          <p:nvPr/>
        </p:nvGrpSpPr>
        <p:grpSpPr>
          <a:xfrm rot="0">
            <a:off x="11502671" y="9960324"/>
            <a:ext cx="9960587" cy="1142074"/>
            <a:chOff x="0" y="0"/>
            <a:chExt cx="2572779" cy="294993"/>
          </a:xfrm>
        </p:grpSpPr>
        <p:sp>
          <p:nvSpPr>
            <p:cNvPr name="Freeform 10" id="10"/>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11" id="11"/>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5959063" y="-784283"/>
            <a:ext cx="8918177" cy="1142074"/>
            <a:chOff x="0" y="0"/>
            <a:chExt cx="2303529" cy="294993"/>
          </a:xfrm>
        </p:grpSpPr>
        <p:sp>
          <p:nvSpPr>
            <p:cNvPr name="Freeform 13" id="13"/>
            <p:cNvSpPr/>
            <p:nvPr/>
          </p:nvSpPr>
          <p:spPr>
            <a:xfrm flipH="false" flipV="false" rot="0">
              <a:off x="0" y="0"/>
              <a:ext cx="2303529" cy="294993"/>
            </a:xfrm>
            <a:custGeom>
              <a:avLst/>
              <a:gdLst/>
              <a:ahLst/>
              <a:cxnLst/>
              <a:rect r="r" b="b" t="t" l="l"/>
              <a:pathLst>
                <a:path h="294993" w="2303529">
                  <a:moveTo>
                    <a:pt x="52086" y="0"/>
                  </a:moveTo>
                  <a:lnTo>
                    <a:pt x="2251442" y="0"/>
                  </a:lnTo>
                  <a:cubicBezTo>
                    <a:pt x="2265256" y="0"/>
                    <a:pt x="2278505" y="5488"/>
                    <a:pt x="2288273" y="15256"/>
                  </a:cubicBezTo>
                  <a:cubicBezTo>
                    <a:pt x="2298041" y="25024"/>
                    <a:pt x="2303529" y="38272"/>
                    <a:pt x="2303529" y="52086"/>
                  </a:cubicBezTo>
                  <a:lnTo>
                    <a:pt x="2303529" y="242907"/>
                  </a:lnTo>
                  <a:cubicBezTo>
                    <a:pt x="2303529" y="271673"/>
                    <a:pt x="2280209" y="294993"/>
                    <a:pt x="2251442" y="294993"/>
                  </a:cubicBezTo>
                  <a:lnTo>
                    <a:pt x="52086" y="294993"/>
                  </a:lnTo>
                  <a:cubicBezTo>
                    <a:pt x="23320" y="294993"/>
                    <a:pt x="0" y="271673"/>
                    <a:pt x="0" y="242907"/>
                  </a:cubicBezTo>
                  <a:lnTo>
                    <a:pt x="0" y="52086"/>
                  </a:lnTo>
                  <a:cubicBezTo>
                    <a:pt x="0" y="23320"/>
                    <a:pt x="23320" y="0"/>
                    <a:pt x="52086" y="0"/>
                  </a:cubicBezTo>
                  <a:close/>
                </a:path>
              </a:pathLst>
            </a:custGeom>
            <a:ln w="19050" cap="rnd">
              <a:solidFill>
                <a:srgbClr val="00B58F"/>
              </a:solidFill>
              <a:prstDash val="solid"/>
              <a:round/>
            </a:ln>
          </p:spPr>
        </p:sp>
        <p:sp>
          <p:nvSpPr>
            <p:cNvPr name="TextBox 14" id="14"/>
            <p:cNvSpPr txBox="true"/>
            <p:nvPr/>
          </p:nvSpPr>
          <p:spPr>
            <a:xfrm>
              <a:off x="0" y="-38100"/>
              <a:ext cx="2303529" cy="333093"/>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235533" y="6042826"/>
            <a:ext cx="17804710" cy="1571958"/>
          </a:xfrm>
          <a:prstGeom prst="rect">
            <a:avLst/>
          </a:prstGeom>
        </p:spPr>
        <p:txBody>
          <a:bodyPr anchor="t" rtlCol="false" tIns="0" lIns="0" bIns="0" rIns="0">
            <a:spAutoFit/>
          </a:bodyPr>
          <a:lstStyle/>
          <a:p>
            <a:pPr algn="ctr" marL="652812" indent="-326406" lvl="1">
              <a:lnSpc>
                <a:spcPts val="4233"/>
              </a:lnSpc>
              <a:buFont typeface="Arial"/>
              <a:buChar char="•"/>
            </a:pPr>
            <a:r>
              <a:rPr lang="en-US" sz="3023">
                <a:solidFill>
                  <a:srgbClr val="0B132B"/>
                </a:solidFill>
                <a:latin typeface="Bricolage Grotesque"/>
                <a:ea typeface="Bricolage Grotesque"/>
                <a:cs typeface="Bricolage Grotesque"/>
                <a:sym typeface="Bricolage Grotesque"/>
              </a:rPr>
              <a:t>In CT–CV charging, a thermal model is developed to m</a:t>
            </a:r>
            <a:r>
              <a:rPr lang="en-US" sz="3023">
                <a:solidFill>
                  <a:srgbClr val="0B132B"/>
                </a:solidFill>
                <a:latin typeface="Bricolage Grotesque"/>
                <a:ea typeface="Bricolage Grotesque"/>
                <a:cs typeface="Bricolage Grotesque"/>
                <a:sym typeface="Bricolage Grotesque"/>
              </a:rPr>
              <a:t>onitor  battery behavior during charging.                                                </a:t>
            </a:r>
            <a:r>
              <a:rPr lang="en-US" sz="3023">
                <a:solidFill>
                  <a:srgbClr val="0B132B"/>
                </a:solidFill>
                <a:latin typeface="Bricolage Grotesque"/>
                <a:ea typeface="Bricolage Grotesque"/>
                <a:cs typeface="Bricolage Grotesque"/>
                <a:sym typeface="Bricolage Grotesque"/>
              </a:rPr>
              <a:t>This model helps in observing both internal temperature and surface temperature in real time.</a:t>
            </a:r>
          </a:p>
          <a:p>
            <a:pPr algn="ctr">
              <a:lnSpc>
                <a:spcPts val="4233"/>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1502671" y="9960324"/>
            <a:ext cx="9960587" cy="1142074"/>
            <a:chOff x="0" y="0"/>
            <a:chExt cx="2572779" cy="294993"/>
          </a:xfrm>
        </p:grpSpPr>
        <p:sp>
          <p:nvSpPr>
            <p:cNvPr name="Freeform 3" id="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4" id="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959063" y="-784283"/>
            <a:ext cx="8918177" cy="1142074"/>
            <a:chOff x="0" y="0"/>
            <a:chExt cx="2303529" cy="294993"/>
          </a:xfrm>
        </p:grpSpPr>
        <p:sp>
          <p:nvSpPr>
            <p:cNvPr name="Freeform 6" id="6"/>
            <p:cNvSpPr/>
            <p:nvPr/>
          </p:nvSpPr>
          <p:spPr>
            <a:xfrm flipH="false" flipV="false" rot="0">
              <a:off x="0" y="0"/>
              <a:ext cx="2303529" cy="294993"/>
            </a:xfrm>
            <a:custGeom>
              <a:avLst/>
              <a:gdLst/>
              <a:ahLst/>
              <a:cxnLst/>
              <a:rect r="r" b="b" t="t" l="l"/>
              <a:pathLst>
                <a:path h="294993" w="2303529">
                  <a:moveTo>
                    <a:pt x="52086" y="0"/>
                  </a:moveTo>
                  <a:lnTo>
                    <a:pt x="2251442" y="0"/>
                  </a:lnTo>
                  <a:cubicBezTo>
                    <a:pt x="2265256" y="0"/>
                    <a:pt x="2278505" y="5488"/>
                    <a:pt x="2288273" y="15256"/>
                  </a:cubicBezTo>
                  <a:cubicBezTo>
                    <a:pt x="2298041" y="25024"/>
                    <a:pt x="2303529" y="38272"/>
                    <a:pt x="2303529" y="52086"/>
                  </a:cubicBezTo>
                  <a:lnTo>
                    <a:pt x="2303529" y="242907"/>
                  </a:lnTo>
                  <a:cubicBezTo>
                    <a:pt x="2303529" y="271673"/>
                    <a:pt x="2280209" y="294993"/>
                    <a:pt x="2251442" y="294993"/>
                  </a:cubicBezTo>
                  <a:lnTo>
                    <a:pt x="52086" y="294993"/>
                  </a:lnTo>
                  <a:cubicBezTo>
                    <a:pt x="23320" y="294993"/>
                    <a:pt x="0" y="271673"/>
                    <a:pt x="0" y="242907"/>
                  </a:cubicBezTo>
                  <a:lnTo>
                    <a:pt x="0" y="52086"/>
                  </a:lnTo>
                  <a:cubicBezTo>
                    <a:pt x="0" y="23320"/>
                    <a:pt x="23320" y="0"/>
                    <a:pt x="52086" y="0"/>
                  </a:cubicBezTo>
                  <a:close/>
                </a:path>
              </a:pathLst>
            </a:custGeom>
            <a:ln w="19050" cap="rnd">
              <a:solidFill>
                <a:srgbClr val="00B58F"/>
              </a:solidFill>
              <a:prstDash val="solid"/>
              <a:round/>
            </a:ln>
          </p:spPr>
        </p:sp>
        <p:sp>
          <p:nvSpPr>
            <p:cNvPr name="TextBox 7" id="7"/>
            <p:cNvSpPr txBox="true"/>
            <p:nvPr/>
          </p:nvSpPr>
          <p:spPr>
            <a:xfrm>
              <a:off x="0" y="-38100"/>
              <a:ext cx="2303529"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0" y="1674118"/>
            <a:ext cx="18288000" cy="7584182"/>
          </a:xfrm>
          <a:custGeom>
            <a:avLst/>
            <a:gdLst/>
            <a:ahLst/>
            <a:cxnLst/>
            <a:rect r="r" b="b" t="t" l="l"/>
            <a:pathLst>
              <a:path h="7584182" w="18288000">
                <a:moveTo>
                  <a:pt x="0" y="0"/>
                </a:moveTo>
                <a:lnTo>
                  <a:pt x="18288000" y="0"/>
                </a:lnTo>
                <a:lnTo>
                  <a:pt x="18288000" y="7584182"/>
                </a:lnTo>
                <a:lnTo>
                  <a:pt x="0" y="7584182"/>
                </a:lnTo>
                <a:lnTo>
                  <a:pt x="0" y="0"/>
                </a:lnTo>
                <a:close/>
              </a:path>
            </a:pathLst>
          </a:custGeom>
          <a:blipFill>
            <a:blip r:embed="rId2"/>
            <a:stretch>
              <a:fillRect l="0" t="-371" r="0" b="0"/>
            </a:stretch>
          </a:blipFill>
        </p:spPr>
      </p:sp>
      <p:sp>
        <p:nvSpPr>
          <p:cNvPr name="TextBox 9" id="9"/>
          <p:cNvSpPr txBox="true"/>
          <p:nvPr/>
        </p:nvSpPr>
        <p:spPr>
          <a:xfrm rot="0">
            <a:off x="5895529" y="575617"/>
            <a:ext cx="5864471" cy="1098501"/>
          </a:xfrm>
          <a:prstGeom prst="rect">
            <a:avLst/>
          </a:prstGeom>
        </p:spPr>
        <p:txBody>
          <a:bodyPr anchor="t" rtlCol="false" tIns="0" lIns="0" bIns="0" rIns="0">
            <a:spAutoFit/>
          </a:bodyPr>
          <a:lstStyle/>
          <a:p>
            <a:pPr algn="ctr">
              <a:lnSpc>
                <a:spcPts val="9093"/>
              </a:lnSpc>
              <a:spcBef>
                <a:spcPct val="0"/>
              </a:spcBef>
            </a:pPr>
            <a:r>
              <a:rPr lang="en-US" sz="6495">
                <a:solidFill>
                  <a:srgbClr val="000000"/>
                </a:solidFill>
                <a:latin typeface="Bricolage Grotesque"/>
                <a:ea typeface="Bricolage Grotesque"/>
                <a:cs typeface="Bricolage Grotesque"/>
                <a:sym typeface="Bricolage Grotesque"/>
              </a:rPr>
              <a:t>CT-CV METHOD</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1502671" y="9960324"/>
            <a:ext cx="9960587" cy="1142074"/>
            <a:chOff x="0" y="0"/>
            <a:chExt cx="2572779" cy="294993"/>
          </a:xfrm>
        </p:grpSpPr>
        <p:sp>
          <p:nvSpPr>
            <p:cNvPr name="Freeform 3" id="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4" id="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0" y="5040807"/>
            <a:ext cx="9346719" cy="4919517"/>
          </a:xfrm>
          <a:custGeom>
            <a:avLst/>
            <a:gdLst/>
            <a:ahLst/>
            <a:cxnLst/>
            <a:rect r="r" b="b" t="t" l="l"/>
            <a:pathLst>
              <a:path h="4919517" w="9346719">
                <a:moveTo>
                  <a:pt x="0" y="0"/>
                </a:moveTo>
                <a:lnTo>
                  <a:pt x="9346719" y="0"/>
                </a:lnTo>
                <a:lnTo>
                  <a:pt x="9346719" y="4919517"/>
                </a:lnTo>
                <a:lnTo>
                  <a:pt x="0" y="4919517"/>
                </a:lnTo>
                <a:lnTo>
                  <a:pt x="0" y="0"/>
                </a:lnTo>
                <a:close/>
              </a:path>
            </a:pathLst>
          </a:custGeom>
          <a:blipFill>
            <a:blip r:embed="rId2"/>
            <a:stretch>
              <a:fillRect l="-455" t="0" r="0" b="-3540"/>
            </a:stretch>
          </a:blipFill>
        </p:spPr>
      </p:sp>
      <p:sp>
        <p:nvSpPr>
          <p:cNvPr name="Freeform 6" id="6"/>
          <p:cNvSpPr/>
          <p:nvPr/>
        </p:nvSpPr>
        <p:spPr>
          <a:xfrm flipH="false" flipV="false" rot="0">
            <a:off x="9144000" y="199573"/>
            <a:ext cx="9704700" cy="4597602"/>
          </a:xfrm>
          <a:custGeom>
            <a:avLst/>
            <a:gdLst/>
            <a:ahLst/>
            <a:cxnLst/>
            <a:rect r="r" b="b" t="t" l="l"/>
            <a:pathLst>
              <a:path h="4597602" w="9704700">
                <a:moveTo>
                  <a:pt x="0" y="0"/>
                </a:moveTo>
                <a:lnTo>
                  <a:pt x="9704700" y="0"/>
                </a:lnTo>
                <a:lnTo>
                  <a:pt x="9704700" y="4597601"/>
                </a:lnTo>
                <a:lnTo>
                  <a:pt x="0" y="4597601"/>
                </a:lnTo>
                <a:lnTo>
                  <a:pt x="0" y="0"/>
                </a:lnTo>
                <a:close/>
              </a:path>
            </a:pathLst>
          </a:custGeom>
          <a:blipFill>
            <a:blip r:embed="rId3"/>
            <a:stretch>
              <a:fillRect l="0" t="0" r="0" b="0"/>
            </a:stretch>
          </a:blipFill>
        </p:spPr>
      </p:sp>
      <p:sp>
        <p:nvSpPr>
          <p:cNvPr name="TextBox 7" id="7"/>
          <p:cNvSpPr txBox="true"/>
          <p:nvPr/>
        </p:nvSpPr>
        <p:spPr>
          <a:xfrm rot="0">
            <a:off x="2147739" y="2038633"/>
            <a:ext cx="5051241" cy="814706"/>
          </a:xfrm>
          <a:prstGeom prst="rect">
            <a:avLst/>
          </a:prstGeom>
        </p:spPr>
        <p:txBody>
          <a:bodyPr anchor="t" rtlCol="false" tIns="0" lIns="0" bIns="0" rIns="0">
            <a:spAutoFit/>
          </a:bodyPr>
          <a:lstStyle/>
          <a:p>
            <a:pPr algn="ctr">
              <a:lnSpc>
                <a:spcPts val="6623"/>
              </a:lnSpc>
              <a:spcBef>
                <a:spcPct val="0"/>
              </a:spcBef>
            </a:pPr>
            <a:r>
              <a:rPr lang="en-US" sz="4730">
                <a:solidFill>
                  <a:srgbClr val="0B132B"/>
                </a:solidFill>
                <a:latin typeface="Bricolage Grotesque"/>
                <a:ea typeface="Bricolage Grotesque"/>
                <a:cs typeface="Bricolage Grotesque"/>
                <a:sym typeface="Bricolage Grotesque"/>
              </a:rPr>
              <a:t>CURRENT Vs TIME</a:t>
            </a:r>
          </a:p>
        </p:txBody>
      </p:sp>
      <p:sp>
        <p:nvSpPr>
          <p:cNvPr name="TextBox 8" id="8"/>
          <p:cNvSpPr txBox="true"/>
          <p:nvPr/>
        </p:nvSpPr>
        <p:spPr>
          <a:xfrm rot="0">
            <a:off x="11502671" y="6904658"/>
            <a:ext cx="4786599" cy="813674"/>
          </a:xfrm>
          <a:prstGeom prst="rect">
            <a:avLst/>
          </a:prstGeom>
        </p:spPr>
        <p:txBody>
          <a:bodyPr anchor="t" rtlCol="false" tIns="0" lIns="0" bIns="0" rIns="0">
            <a:spAutoFit/>
          </a:bodyPr>
          <a:lstStyle/>
          <a:p>
            <a:pPr algn="ctr">
              <a:lnSpc>
                <a:spcPts val="6613"/>
              </a:lnSpc>
              <a:spcBef>
                <a:spcPct val="0"/>
              </a:spcBef>
            </a:pPr>
            <a:r>
              <a:rPr lang="en-US" sz="4724">
                <a:solidFill>
                  <a:srgbClr val="0B132B"/>
                </a:solidFill>
                <a:latin typeface="Bricolage Grotesque"/>
                <a:ea typeface="Bricolage Grotesque"/>
                <a:cs typeface="Bricolage Grotesque"/>
                <a:sym typeface="Bricolage Grotesque"/>
              </a:rPr>
              <a:t>Vbattery Vs TIME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1502671" y="9960324"/>
            <a:ext cx="9960587" cy="1142074"/>
            <a:chOff x="0" y="0"/>
            <a:chExt cx="2572779" cy="294993"/>
          </a:xfrm>
        </p:grpSpPr>
        <p:sp>
          <p:nvSpPr>
            <p:cNvPr name="Freeform 3" id="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4" id="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377007" y="0"/>
            <a:ext cx="9757191" cy="5000560"/>
          </a:xfrm>
          <a:custGeom>
            <a:avLst/>
            <a:gdLst/>
            <a:ahLst/>
            <a:cxnLst/>
            <a:rect r="r" b="b" t="t" l="l"/>
            <a:pathLst>
              <a:path h="5000560" w="9757191">
                <a:moveTo>
                  <a:pt x="0" y="0"/>
                </a:moveTo>
                <a:lnTo>
                  <a:pt x="9757190" y="0"/>
                </a:lnTo>
                <a:lnTo>
                  <a:pt x="9757190" y="5000560"/>
                </a:lnTo>
                <a:lnTo>
                  <a:pt x="0" y="5000560"/>
                </a:lnTo>
                <a:lnTo>
                  <a:pt x="0" y="0"/>
                </a:lnTo>
                <a:close/>
              </a:path>
            </a:pathLst>
          </a:custGeom>
          <a:blipFill>
            <a:blip r:embed="rId2"/>
            <a:stretch>
              <a:fillRect l="0" t="0" r="0" b="0"/>
            </a:stretch>
          </a:blipFill>
        </p:spPr>
      </p:sp>
      <p:sp>
        <p:nvSpPr>
          <p:cNvPr name="Freeform 6" id="6"/>
          <p:cNvSpPr/>
          <p:nvPr/>
        </p:nvSpPr>
        <p:spPr>
          <a:xfrm flipH="false" flipV="false" rot="0">
            <a:off x="-293338" y="5145688"/>
            <a:ext cx="10114874" cy="4311465"/>
          </a:xfrm>
          <a:custGeom>
            <a:avLst/>
            <a:gdLst/>
            <a:ahLst/>
            <a:cxnLst/>
            <a:rect r="r" b="b" t="t" l="l"/>
            <a:pathLst>
              <a:path h="4311465" w="10114874">
                <a:moveTo>
                  <a:pt x="0" y="0"/>
                </a:moveTo>
                <a:lnTo>
                  <a:pt x="10114873" y="0"/>
                </a:lnTo>
                <a:lnTo>
                  <a:pt x="10114873" y="4311465"/>
                </a:lnTo>
                <a:lnTo>
                  <a:pt x="0" y="4311465"/>
                </a:lnTo>
                <a:lnTo>
                  <a:pt x="0" y="0"/>
                </a:lnTo>
                <a:close/>
              </a:path>
            </a:pathLst>
          </a:custGeom>
          <a:blipFill>
            <a:blip r:embed="rId3"/>
            <a:stretch>
              <a:fillRect l="0" t="0" r="0" b="0"/>
            </a:stretch>
          </a:blipFill>
        </p:spPr>
      </p:sp>
      <p:sp>
        <p:nvSpPr>
          <p:cNvPr name="TextBox 7" id="7"/>
          <p:cNvSpPr txBox="true"/>
          <p:nvPr/>
        </p:nvSpPr>
        <p:spPr>
          <a:xfrm rot="0">
            <a:off x="1215410" y="2108220"/>
            <a:ext cx="5219442" cy="680833"/>
          </a:xfrm>
          <a:prstGeom prst="rect">
            <a:avLst/>
          </a:prstGeom>
        </p:spPr>
        <p:txBody>
          <a:bodyPr anchor="t" rtlCol="false" tIns="0" lIns="0" bIns="0" rIns="0">
            <a:spAutoFit/>
          </a:bodyPr>
          <a:lstStyle/>
          <a:p>
            <a:pPr algn="ctr">
              <a:lnSpc>
                <a:spcPts val="5561"/>
              </a:lnSpc>
              <a:spcBef>
                <a:spcPct val="0"/>
              </a:spcBef>
            </a:pPr>
            <a:r>
              <a:rPr lang="en-US" sz="3972" spc="19">
                <a:solidFill>
                  <a:srgbClr val="0B132B"/>
                </a:solidFill>
                <a:latin typeface="Fira Sans"/>
                <a:ea typeface="Fira Sans"/>
                <a:cs typeface="Fira Sans"/>
                <a:sym typeface="Fira Sans"/>
              </a:rPr>
              <a:t>SURFACE TEMP Vs TIME</a:t>
            </a:r>
          </a:p>
        </p:txBody>
      </p:sp>
      <p:sp>
        <p:nvSpPr>
          <p:cNvPr name="TextBox 8" id="8"/>
          <p:cNvSpPr txBox="true"/>
          <p:nvPr/>
        </p:nvSpPr>
        <p:spPr>
          <a:xfrm rot="0">
            <a:off x="9500396" y="6714523"/>
            <a:ext cx="8787604" cy="1455638"/>
          </a:xfrm>
          <a:prstGeom prst="rect">
            <a:avLst/>
          </a:prstGeom>
        </p:spPr>
        <p:txBody>
          <a:bodyPr anchor="t" rtlCol="false" tIns="0" lIns="0" bIns="0" rIns="0">
            <a:spAutoFit/>
          </a:bodyPr>
          <a:lstStyle/>
          <a:p>
            <a:pPr algn="ctr">
              <a:lnSpc>
                <a:spcPts val="5855"/>
              </a:lnSpc>
              <a:spcBef>
                <a:spcPct val="0"/>
              </a:spcBef>
            </a:pPr>
            <a:r>
              <a:rPr lang="en-US" sz="4182" spc="20">
                <a:solidFill>
                  <a:srgbClr val="0B132B"/>
                </a:solidFill>
                <a:latin typeface="Fira Sans"/>
                <a:ea typeface="Fira Sans"/>
                <a:cs typeface="Fira Sans"/>
                <a:sym typeface="Fira Sans"/>
              </a:rPr>
              <a:t>THERMAL MODEL USING REAL COMPONENTS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3531" y="1298385"/>
            <a:ext cx="3293984" cy="931668"/>
            <a:chOff x="0" y="0"/>
            <a:chExt cx="18993485" cy="5372100"/>
          </a:xfrm>
        </p:grpSpPr>
        <p:sp>
          <p:nvSpPr>
            <p:cNvPr name="Freeform 3" id="3"/>
            <p:cNvSpPr/>
            <p:nvPr/>
          </p:nvSpPr>
          <p:spPr>
            <a:xfrm flipH="false" flipV="false" rot="0">
              <a:off x="0" y="0"/>
              <a:ext cx="18993486" cy="5372100"/>
            </a:xfrm>
            <a:custGeom>
              <a:avLst/>
              <a:gdLst/>
              <a:ahLst/>
              <a:cxnLst/>
              <a:rect r="r" b="b" t="t" l="l"/>
              <a:pathLst>
                <a:path h="5372100" w="18993486">
                  <a:moveTo>
                    <a:pt x="17442816" y="0"/>
                  </a:moveTo>
                  <a:lnTo>
                    <a:pt x="1550670" y="0"/>
                  </a:lnTo>
                  <a:lnTo>
                    <a:pt x="0" y="2686050"/>
                  </a:lnTo>
                  <a:lnTo>
                    <a:pt x="1550670" y="5372100"/>
                  </a:lnTo>
                  <a:lnTo>
                    <a:pt x="17442816" y="5372100"/>
                  </a:lnTo>
                  <a:lnTo>
                    <a:pt x="18993486" y="2686050"/>
                  </a:lnTo>
                  <a:lnTo>
                    <a:pt x="17442816" y="0"/>
                  </a:lnTo>
                  <a:close/>
                </a:path>
              </a:pathLst>
            </a:custGeom>
            <a:solidFill>
              <a:srgbClr val="A066CB"/>
            </a:solidFill>
          </p:spPr>
        </p:sp>
      </p:grpSp>
      <p:grpSp>
        <p:nvGrpSpPr>
          <p:cNvPr name="Group 4" id="4"/>
          <p:cNvGrpSpPr/>
          <p:nvPr/>
        </p:nvGrpSpPr>
        <p:grpSpPr>
          <a:xfrm rot="0">
            <a:off x="2778132" y="1298385"/>
            <a:ext cx="3293984" cy="931668"/>
            <a:chOff x="0" y="0"/>
            <a:chExt cx="18993485" cy="5372100"/>
          </a:xfrm>
        </p:grpSpPr>
        <p:sp>
          <p:nvSpPr>
            <p:cNvPr name="Freeform 5" id="5"/>
            <p:cNvSpPr/>
            <p:nvPr/>
          </p:nvSpPr>
          <p:spPr>
            <a:xfrm flipH="false" flipV="false" rot="0">
              <a:off x="0" y="0"/>
              <a:ext cx="18993486" cy="5372100"/>
            </a:xfrm>
            <a:custGeom>
              <a:avLst/>
              <a:gdLst/>
              <a:ahLst/>
              <a:cxnLst/>
              <a:rect r="r" b="b" t="t" l="l"/>
              <a:pathLst>
                <a:path h="5372100" w="18993486">
                  <a:moveTo>
                    <a:pt x="17442816" y="0"/>
                  </a:moveTo>
                  <a:lnTo>
                    <a:pt x="1550670" y="0"/>
                  </a:lnTo>
                  <a:lnTo>
                    <a:pt x="0" y="2686050"/>
                  </a:lnTo>
                  <a:lnTo>
                    <a:pt x="1550670" y="5372100"/>
                  </a:lnTo>
                  <a:lnTo>
                    <a:pt x="17442816" y="5372100"/>
                  </a:lnTo>
                  <a:lnTo>
                    <a:pt x="18993486" y="2686050"/>
                  </a:lnTo>
                  <a:lnTo>
                    <a:pt x="17442816" y="0"/>
                  </a:lnTo>
                  <a:close/>
                </a:path>
              </a:pathLst>
            </a:custGeom>
            <a:solidFill>
              <a:srgbClr val="1836B2"/>
            </a:solidFill>
          </p:spPr>
        </p:sp>
      </p:grpSp>
      <p:grpSp>
        <p:nvGrpSpPr>
          <p:cNvPr name="Group 6" id="6"/>
          <p:cNvGrpSpPr/>
          <p:nvPr/>
        </p:nvGrpSpPr>
        <p:grpSpPr>
          <a:xfrm rot="0">
            <a:off x="5993315" y="1308996"/>
            <a:ext cx="3901900" cy="931668"/>
            <a:chOff x="0" y="0"/>
            <a:chExt cx="22498796" cy="5372100"/>
          </a:xfrm>
        </p:grpSpPr>
        <p:sp>
          <p:nvSpPr>
            <p:cNvPr name="Freeform 7" id="7"/>
            <p:cNvSpPr/>
            <p:nvPr/>
          </p:nvSpPr>
          <p:spPr>
            <a:xfrm flipH="false" flipV="false" rot="0">
              <a:off x="0" y="0"/>
              <a:ext cx="22498796" cy="5372100"/>
            </a:xfrm>
            <a:custGeom>
              <a:avLst/>
              <a:gdLst/>
              <a:ahLst/>
              <a:cxnLst/>
              <a:rect r="r" b="b" t="t" l="l"/>
              <a:pathLst>
                <a:path h="5372100" w="22498796">
                  <a:moveTo>
                    <a:pt x="20948126" y="0"/>
                  </a:moveTo>
                  <a:lnTo>
                    <a:pt x="1550670" y="0"/>
                  </a:lnTo>
                  <a:lnTo>
                    <a:pt x="0" y="2686050"/>
                  </a:lnTo>
                  <a:lnTo>
                    <a:pt x="1550670" y="5372100"/>
                  </a:lnTo>
                  <a:lnTo>
                    <a:pt x="20948126" y="5372100"/>
                  </a:lnTo>
                  <a:lnTo>
                    <a:pt x="22498796" y="2686050"/>
                  </a:lnTo>
                  <a:lnTo>
                    <a:pt x="20948126" y="0"/>
                  </a:lnTo>
                  <a:close/>
                </a:path>
              </a:pathLst>
            </a:custGeom>
            <a:solidFill>
              <a:srgbClr val="86C7ED"/>
            </a:solidFill>
          </p:spPr>
        </p:sp>
      </p:grpSp>
      <p:sp>
        <p:nvSpPr>
          <p:cNvPr name="AutoShape 8" id="8"/>
          <p:cNvSpPr/>
          <p:nvPr/>
        </p:nvSpPr>
        <p:spPr>
          <a:xfrm>
            <a:off x="-143531" y="3577542"/>
            <a:ext cx="8782988" cy="0"/>
          </a:xfrm>
          <a:prstGeom prst="line">
            <a:avLst/>
          </a:prstGeom>
          <a:ln cap="flat" w="9525">
            <a:solidFill>
              <a:srgbClr val="A6A6A6"/>
            </a:solidFill>
            <a:prstDash val="solid"/>
            <a:headEnd type="none" len="sm" w="sm"/>
            <a:tailEnd type="none" len="sm" w="sm"/>
          </a:ln>
        </p:spPr>
      </p:sp>
      <p:sp>
        <p:nvSpPr>
          <p:cNvPr name="AutoShape 9" id="9"/>
          <p:cNvSpPr/>
          <p:nvPr/>
        </p:nvSpPr>
        <p:spPr>
          <a:xfrm>
            <a:off x="-157236" y="4815808"/>
            <a:ext cx="8782988" cy="0"/>
          </a:xfrm>
          <a:prstGeom prst="line">
            <a:avLst/>
          </a:prstGeom>
          <a:ln cap="flat" w="9525">
            <a:solidFill>
              <a:srgbClr val="A6A6A6"/>
            </a:solidFill>
            <a:prstDash val="solid"/>
            <a:headEnd type="none" len="sm" w="sm"/>
            <a:tailEnd type="none" len="sm" w="sm"/>
          </a:ln>
        </p:spPr>
      </p:sp>
      <p:sp>
        <p:nvSpPr>
          <p:cNvPr name="AutoShape 10" id="10"/>
          <p:cNvSpPr/>
          <p:nvPr/>
        </p:nvSpPr>
        <p:spPr>
          <a:xfrm>
            <a:off x="-157236" y="6030343"/>
            <a:ext cx="8782988" cy="0"/>
          </a:xfrm>
          <a:prstGeom prst="line">
            <a:avLst/>
          </a:prstGeom>
          <a:ln cap="flat" w="9525">
            <a:solidFill>
              <a:srgbClr val="A6A6A6"/>
            </a:solidFill>
            <a:prstDash val="solid"/>
            <a:headEnd type="none" len="sm" w="sm"/>
            <a:tailEnd type="none" len="sm" w="sm"/>
          </a:ln>
        </p:spPr>
      </p:sp>
      <p:sp>
        <p:nvSpPr>
          <p:cNvPr name="AutoShape 11" id="11"/>
          <p:cNvSpPr/>
          <p:nvPr/>
        </p:nvSpPr>
        <p:spPr>
          <a:xfrm>
            <a:off x="-1641988" y="7124519"/>
            <a:ext cx="10785988" cy="0"/>
          </a:xfrm>
          <a:prstGeom prst="line">
            <a:avLst/>
          </a:prstGeom>
          <a:ln cap="flat" w="9525">
            <a:solidFill>
              <a:srgbClr val="A6A6A6"/>
            </a:solidFill>
            <a:prstDash val="solid"/>
            <a:headEnd type="none" len="sm" w="sm"/>
            <a:tailEnd type="none" len="sm" w="sm"/>
          </a:ln>
        </p:spPr>
      </p:sp>
      <p:sp>
        <p:nvSpPr>
          <p:cNvPr name="Freeform 12" id="12"/>
          <p:cNvSpPr/>
          <p:nvPr/>
        </p:nvSpPr>
        <p:spPr>
          <a:xfrm flipH="false" flipV="false" rot="0">
            <a:off x="9379036" y="242609"/>
            <a:ext cx="8908964" cy="9452481"/>
          </a:xfrm>
          <a:custGeom>
            <a:avLst/>
            <a:gdLst/>
            <a:ahLst/>
            <a:cxnLst/>
            <a:rect r="r" b="b" t="t" l="l"/>
            <a:pathLst>
              <a:path h="9452481" w="8908964">
                <a:moveTo>
                  <a:pt x="0" y="0"/>
                </a:moveTo>
                <a:lnTo>
                  <a:pt x="8908964" y="0"/>
                </a:lnTo>
                <a:lnTo>
                  <a:pt x="8908964" y="9452481"/>
                </a:lnTo>
                <a:lnTo>
                  <a:pt x="0" y="9452481"/>
                </a:lnTo>
                <a:lnTo>
                  <a:pt x="0" y="0"/>
                </a:lnTo>
                <a:close/>
              </a:path>
            </a:pathLst>
          </a:custGeom>
          <a:blipFill>
            <a:blip r:embed="rId2"/>
            <a:stretch>
              <a:fillRect l="0" t="0" r="0" b="0"/>
            </a:stretch>
          </a:blipFill>
        </p:spPr>
      </p:sp>
      <p:sp>
        <p:nvSpPr>
          <p:cNvPr name="TextBox 13" id="13"/>
          <p:cNvSpPr txBox="true"/>
          <p:nvPr/>
        </p:nvSpPr>
        <p:spPr>
          <a:xfrm rot="0">
            <a:off x="142069" y="2683137"/>
            <a:ext cx="2336657" cy="489775"/>
          </a:xfrm>
          <a:prstGeom prst="rect">
            <a:avLst/>
          </a:prstGeom>
        </p:spPr>
        <p:txBody>
          <a:bodyPr anchor="t" rtlCol="false" tIns="0" lIns="0" bIns="0" rIns="0">
            <a:spAutoFit/>
          </a:bodyPr>
          <a:lstStyle/>
          <a:p>
            <a:pPr algn="l" marL="613702" indent="-306851" lvl="1">
              <a:lnSpc>
                <a:spcPts val="3979"/>
              </a:lnSpc>
              <a:spcBef>
                <a:spcPct val="0"/>
              </a:spcBef>
              <a:buFont typeface="Arial"/>
              <a:buChar char="•"/>
            </a:pPr>
            <a:r>
              <a:rPr lang="en-US" sz="2842" spc="14">
                <a:solidFill>
                  <a:srgbClr val="000000"/>
                </a:solidFill>
                <a:latin typeface="Fira Sans"/>
                <a:ea typeface="Fira Sans"/>
                <a:cs typeface="Fira Sans"/>
                <a:sym typeface="Fira Sans"/>
              </a:rPr>
              <a:t>CC</a:t>
            </a:r>
          </a:p>
        </p:txBody>
      </p:sp>
      <p:sp>
        <p:nvSpPr>
          <p:cNvPr name="TextBox 14" id="14"/>
          <p:cNvSpPr txBox="true"/>
          <p:nvPr/>
        </p:nvSpPr>
        <p:spPr>
          <a:xfrm rot="0">
            <a:off x="142069" y="3996333"/>
            <a:ext cx="2336657" cy="489775"/>
          </a:xfrm>
          <a:prstGeom prst="rect">
            <a:avLst/>
          </a:prstGeom>
        </p:spPr>
        <p:txBody>
          <a:bodyPr anchor="t" rtlCol="false" tIns="0" lIns="0" bIns="0" rIns="0">
            <a:spAutoFit/>
          </a:bodyPr>
          <a:lstStyle/>
          <a:p>
            <a:pPr algn="l" marL="613702" indent="-306851" lvl="1">
              <a:lnSpc>
                <a:spcPts val="3979"/>
              </a:lnSpc>
              <a:spcBef>
                <a:spcPct val="0"/>
              </a:spcBef>
              <a:buFont typeface="Arial"/>
              <a:buChar char="•"/>
            </a:pPr>
            <a:r>
              <a:rPr lang="en-US" sz="2842" spc="14">
                <a:solidFill>
                  <a:srgbClr val="000000"/>
                </a:solidFill>
                <a:latin typeface="Fira Sans"/>
                <a:ea typeface="Fira Sans"/>
                <a:cs typeface="Fira Sans"/>
                <a:sym typeface="Fira Sans"/>
              </a:rPr>
              <a:t>CV</a:t>
            </a:r>
          </a:p>
        </p:txBody>
      </p:sp>
      <p:sp>
        <p:nvSpPr>
          <p:cNvPr name="TextBox 15" id="15"/>
          <p:cNvSpPr txBox="true"/>
          <p:nvPr/>
        </p:nvSpPr>
        <p:spPr>
          <a:xfrm rot="0">
            <a:off x="136062" y="5287296"/>
            <a:ext cx="2336657" cy="489775"/>
          </a:xfrm>
          <a:prstGeom prst="rect">
            <a:avLst/>
          </a:prstGeom>
        </p:spPr>
        <p:txBody>
          <a:bodyPr anchor="t" rtlCol="false" tIns="0" lIns="0" bIns="0" rIns="0">
            <a:spAutoFit/>
          </a:bodyPr>
          <a:lstStyle/>
          <a:p>
            <a:pPr algn="l" marL="613702" indent="-306851" lvl="1">
              <a:lnSpc>
                <a:spcPts val="3979"/>
              </a:lnSpc>
              <a:spcBef>
                <a:spcPct val="0"/>
              </a:spcBef>
              <a:buFont typeface="Arial"/>
              <a:buChar char="•"/>
            </a:pPr>
            <a:r>
              <a:rPr lang="en-US" sz="2842" spc="14">
                <a:solidFill>
                  <a:srgbClr val="000000"/>
                </a:solidFill>
                <a:latin typeface="Fira Sans"/>
                <a:ea typeface="Fira Sans"/>
                <a:cs typeface="Fira Sans"/>
                <a:sym typeface="Fira Sans"/>
              </a:rPr>
              <a:t>CC-CV</a:t>
            </a:r>
          </a:p>
        </p:txBody>
      </p:sp>
      <p:sp>
        <p:nvSpPr>
          <p:cNvPr name="TextBox 16" id="16"/>
          <p:cNvSpPr txBox="true"/>
          <p:nvPr/>
        </p:nvSpPr>
        <p:spPr>
          <a:xfrm rot="0">
            <a:off x="141415" y="6336167"/>
            <a:ext cx="2331304" cy="455531"/>
          </a:xfrm>
          <a:prstGeom prst="rect">
            <a:avLst/>
          </a:prstGeom>
        </p:spPr>
        <p:txBody>
          <a:bodyPr anchor="t" rtlCol="false" tIns="0" lIns="0" bIns="0" rIns="0">
            <a:spAutoFit/>
          </a:bodyPr>
          <a:lstStyle/>
          <a:p>
            <a:pPr algn="l" marL="580927" indent="-290463" lvl="1">
              <a:lnSpc>
                <a:spcPts val="3767"/>
              </a:lnSpc>
              <a:spcBef>
                <a:spcPct val="0"/>
              </a:spcBef>
              <a:buFont typeface="Arial"/>
              <a:buChar char="•"/>
            </a:pPr>
            <a:r>
              <a:rPr lang="en-US" sz="2690" spc="13">
                <a:solidFill>
                  <a:srgbClr val="000000"/>
                </a:solidFill>
                <a:latin typeface="Fira Sans"/>
                <a:ea typeface="Fira Sans"/>
                <a:cs typeface="Fira Sans"/>
                <a:sym typeface="Fira Sans"/>
              </a:rPr>
              <a:t>CT-CV</a:t>
            </a:r>
          </a:p>
        </p:txBody>
      </p:sp>
      <p:sp>
        <p:nvSpPr>
          <p:cNvPr name="TextBox 17" id="17"/>
          <p:cNvSpPr txBox="true"/>
          <p:nvPr/>
        </p:nvSpPr>
        <p:spPr>
          <a:xfrm rot="0">
            <a:off x="3075981" y="2672338"/>
            <a:ext cx="2504864" cy="489775"/>
          </a:xfrm>
          <a:prstGeom prst="rect">
            <a:avLst/>
          </a:prstGeom>
        </p:spPr>
        <p:txBody>
          <a:bodyPr anchor="t" rtlCol="false" tIns="0" lIns="0" bIns="0" rIns="0">
            <a:spAutoFit/>
          </a:bodyPr>
          <a:lstStyle/>
          <a:p>
            <a:pPr algn="l">
              <a:lnSpc>
                <a:spcPts val="3979"/>
              </a:lnSpc>
              <a:spcBef>
                <a:spcPct val="0"/>
              </a:spcBef>
            </a:pPr>
            <a:r>
              <a:rPr lang="en-US" sz="2842" spc="14">
                <a:solidFill>
                  <a:srgbClr val="000000"/>
                </a:solidFill>
                <a:latin typeface="Fira Sans"/>
                <a:ea typeface="Fira Sans"/>
                <a:cs typeface="Fira Sans"/>
                <a:sym typeface="Fira Sans"/>
              </a:rPr>
              <a:t>61 min</a:t>
            </a:r>
          </a:p>
        </p:txBody>
      </p:sp>
      <p:sp>
        <p:nvSpPr>
          <p:cNvPr name="TextBox 18" id="18"/>
          <p:cNvSpPr txBox="true"/>
          <p:nvPr/>
        </p:nvSpPr>
        <p:spPr>
          <a:xfrm rot="0">
            <a:off x="3075981" y="3996333"/>
            <a:ext cx="2336657" cy="489775"/>
          </a:xfrm>
          <a:prstGeom prst="rect">
            <a:avLst/>
          </a:prstGeom>
        </p:spPr>
        <p:txBody>
          <a:bodyPr anchor="t" rtlCol="false" tIns="0" lIns="0" bIns="0" rIns="0">
            <a:spAutoFit/>
          </a:bodyPr>
          <a:lstStyle/>
          <a:p>
            <a:pPr algn="l">
              <a:lnSpc>
                <a:spcPts val="3979"/>
              </a:lnSpc>
              <a:spcBef>
                <a:spcPct val="0"/>
              </a:spcBef>
            </a:pPr>
            <a:r>
              <a:rPr lang="en-US" sz="2842" spc="14">
                <a:solidFill>
                  <a:srgbClr val="000000"/>
                </a:solidFill>
                <a:latin typeface="Fira Sans"/>
                <a:ea typeface="Fira Sans"/>
                <a:cs typeface="Fira Sans"/>
                <a:sym typeface="Fira Sans"/>
              </a:rPr>
              <a:t>104 min</a:t>
            </a:r>
          </a:p>
        </p:txBody>
      </p:sp>
      <p:sp>
        <p:nvSpPr>
          <p:cNvPr name="TextBox 19" id="19"/>
          <p:cNvSpPr txBox="true"/>
          <p:nvPr/>
        </p:nvSpPr>
        <p:spPr>
          <a:xfrm rot="0">
            <a:off x="3075981" y="5287296"/>
            <a:ext cx="2336657" cy="489775"/>
          </a:xfrm>
          <a:prstGeom prst="rect">
            <a:avLst/>
          </a:prstGeom>
        </p:spPr>
        <p:txBody>
          <a:bodyPr anchor="t" rtlCol="false" tIns="0" lIns="0" bIns="0" rIns="0">
            <a:spAutoFit/>
          </a:bodyPr>
          <a:lstStyle/>
          <a:p>
            <a:pPr algn="l">
              <a:lnSpc>
                <a:spcPts val="3979"/>
              </a:lnSpc>
              <a:spcBef>
                <a:spcPct val="0"/>
              </a:spcBef>
            </a:pPr>
            <a:r>
              <a:rPr lang="en-US" sz="2842" spc="14">
                <a:solidFill>
                  <a:srgbClr val="000000"/>
                </a:solidFill>
                <a:latin typeface="Fira Sans"/>
                <a:ea typeface="Fira Sans"/>
                <a:cs typeface="Fira Sans"/>
                <a:sym typeface="Fira Sans"/>
              </a:rPr>
              <a:t>91 min</a:t>
            </a:r>
          </a:p>
        </p:txBody>
      </p:sp>
      <p:sp>
        <p:nvSpPr>
          <p:cNvPr name="TextBox 20" id="20"/>
          <p:cNvSpPr txBox="true"/>
          <p:nvPr/>
        </p:nvSpPr>
        <p:spPr>
          <a:xfrm rot="0">
            <a:off x="3068606" y="6336167"/>
            <a:ext cx="2331304" cy="455531"/>
          </a:xfrm>
          <a:prstGeom prst="rect">
            <a:avLst/>
          </a:prstGeom>
        </p:spPr>
        <p:txBody>
          <a:bodyPr anchor="t" rtlCol="false" tIns="0" lIns="0" bIns="0" rIns="0">
            <a:spAutoFit/>
          </a:bodyPr>
          <a:lstStyle/>
          <a:p>
            <a:pPr algn="l">
              <a:lnSpc>
                <a:spcPts val="3767"/>
              </a:lnSpc>
              <a:spcBef>
                <a:spcPct val="0"/>
              </a:spcBef>
            </a:pPr>
            <a:r>
              <a:rPr lang="en-US" sz="2690" spc="13">
                <a:solidFill>
                  <a:srgbClr val="000000"/>
                </a:solidFill>
                <a:latin typeface="Fira Sans"/>
                <a:ea typeface="Fira Sans"/>
                <a:cs typeface="Fira Sans"/>
                <a:sym typeface="Fira Sans"/>
              </a:rPr>
              <a:t>80 min</a:t>
            </a:r>
          </a:p>
        </p:txBody>
      </p:sp>
      <p:sp>
        <p:nvSpPr>
          <p:cNvPr name="TextBox 21" id="21"/>
          <p:cNvSpPr txBox="true"/>
          <p:nvPr/>
        </p:nvSpPr>
        <p:spPr>
          <a:xfrm rot="0">
            <a:off x="6502522" y="5239671"/>
            <a:ext cx="2869542" cy="455531"/>
          </a:xfrm>
          <a:prstGeom prst="rect">
            <a:avLst/>
          </a:prstGeom>
        </p:spPr>
        <p:txBody>
          <a:bodyPr anchor="t" rtlCol="false" tIns="0" lIns="0" bIns="0" rIns="0">
            <a:spAutoFit/>
          </a:bodyPr>
          <a:lstStyle/>
          <a:p>
            <a:pPr algn="l" marL="580927" indent="-290463" lvl="1">
              <a:lnSpc>
                <a:spcPts val="3767"/>
              </a:lnSpc>
              <a:spcBef>
                <a:spcPct val="0"/>
              </a:spcBef>
              <a:buFont typeface="Arial"/>
              <a:buChar char="•"/>
            </a:pPr>
            <a:r>
              <a:rPr lang="en-US" sz="2690" spc="13">
                <a:solidFill>
                  <a:srgbClr val="000000"/>
                </a:solidFill>
                <a:latin typeface="Fira Sans"/>
                <a:ea typeface="Fira Sans"/>
                <a:cs typeface="Fira Sans"/>
                <a:sym typeface="Fira Sans"/>
              </a:rPr>
              <a:t>ΔT=6.5°C</a:t>
            </a:r>
          </a:p>
        </p:txBody>
      </p:sp>
      <p:sp>
        <p:nvSpPr>
          <p:cNvPr name="TextBox 22" id="22"/>
          <p:cNvSpPr txBox="true"/>
          <p:nvPr/>
        </p:nvSpPr>
        <p:spPr>
          <a:xfrm rot="0">
            <a:off x="6502522" y="6387531"/>
            <a:ext cx="2869542" cy="455531"/>
          </a:xfrm>
          <a:prstGeom prst="rect">
            <a:avLst/>
          </a:prstGeom>
        </p:spPr>
        <p:txBody>
          <a:bodyPr anchor="t" rtlCol="false" tIns="0" lIns="0" bIns="0" rIns="0">
            <a:spAutoFit/>
          </a:bodyPr>
          <a:lstStyle/>
          <a:p>
            <a:pPr algn="l" marL="580927" indent="-290463" lvl="1">
              <a:lnSpc>
                <a:spcPts val="3767"/>
              </a:lnSpc>
              <a:spcBef>
                <a:spcPct val="0"/>
              </a:spcBef>
              <a:buFont typeface="Arial"/>
              <a:buChar char="•"/>
            </a:pPr>
            <a:r>
              <a:rPr lang="en-US" sz="2690" spc="13">
                <a:solidFill>
                  <a:srgbClr val="000000"/>
                </a:solidFill>
                <a:latin typeface="Fira Sans"/>
                <a:ea typeface="Fira Sans"/>
                <a:cs typeface="Fira Sans"/>
                <a:sym typeface="Fira Sans"/>
              </a:rPr>
              <a:t>ΔT=6.5°C</a:t>
            </a:r>
          </a:p>
        </p:txBody>
      </p:sp>
      <p:sp>
        <p:nvSpPr>
          <p:cNvPr name="TextBox 23" id="23"/>
          <p:cNvSpPr txBox="true"/>
          <p:nvPr/>
        </p:nvSpPr>
        <p:spPr>
          <a:xfrm rot="0">
            <a:off x="261620" y="242609"/>
            <a:ext cx="9628764" cy="876300"/>
          </a:xfrm>
          <a:prstGeom prst="rect">
            <a:avLst/>
          </a:prstGeom>
        </p:spPr>
        <p:txBody>
          <a:bodyPr anchor="t" rtlCol="false" tIns="0" lIns="0" bIns="0" rIns="0">
            <a:spAutoFit/>
          </a:bodyPr>
          <a:lstStyle/>
          <a:p>
            <a:pPr algn="l">
              <a:lnSpc>
                <a:spcPts val="6959"/>
              </a:lnSpc>
            </a:pPr>
            <a:r>
              <a:rPr lang="en-US" sz="5799" b="true">
                <a:solidFill>
                  <a:srgbClr val="1836B2"/>
                </a:solidFill>
                <a:latin typeface="Fira Sans Ultra-Bold"/>
                <a:ea typeface="Fira Sans Ultra-Bold"/>
                <a:cs typeface="Fira Sans Ultra-Bold"/>
                <a:sym typeface="Fira Sans Ultra-Bold"/>
              </a:rPr>
              <a:t>RESULTS</a:t>
            </a:r>
          </a:p>
        </p:txBody>
      </p:sp>
      <p:sp>
        <p:nvSpPr>
          <p:cNvPr name="TextBox 24" id="24"/>
          <p:cNvSpPr txBox="true"/>
          <p:nvPr/>
        </p:nvSpPr>
        <p:spPr>
          <a:xfrm rot="0">
            <a:off x="142069" y="1550159"/>
            <a:ext cx="2449139" cy="439818"/>
          </a:xfrm>
          <a:prstGeom prst="rect">
            <a:avLst/>
          </a:prstGeom>
        </p:spPr>
        <p:txBody>
          <a:bodyPr anchor="t" rtlCol="false" tIns="0" lIns="0" bIns="0" rIns="0">
            <a:spAutoFit/>
          </a:bodyPr>
          <a:lstStyle/>
          <a:p>
            <a:pPr algn="l">
              <a:lnSpc>
                <a:spcPts val="3437"/>
              </a:lnSpc>
            </a:pPr>
            <a:r>
              <a:rPr lang="en-US" sz="2864" b="true">
                <a:solidFill>
                  <a:srgbClr val="FFFFFF"/>
                </a:solidFill>
                <a:latin typeface="Fira Sans Medium"/>
                <a:ea typeface="Fira Sans Medium"/>
                <a:cs typeface="Fira Sans Medium"/>
                <a:sym typeface="Fira Sans Medium"/>
              </a:rPr>
              <a:t>METHOD</a:t>
            </a:r>
          </a:p>
        </p:txBody>
      </p:sp>
      <p:sp>
        <p:nvSpPr>
          <p:cNvPr name="TextBox 25" id="25"/>
          <p:cNvSpPr txBox="true"/>
          <p:nvPr/>
        </p:nvSpPr>
        <p:spPr>
          <a:xfrm rot="0">
            <a:off x="3150453" y="1436757"/>
            <a:ext cx="2430392" cy="870111"/>
          </a:xfrm>
          <a:prstGeom prst="rect">
            <a:avLst/>
          </a:prstGeom>
        </p:spPr>
        <p:txBody>
          <a:bodyPr anchor="t" rtlCol="false" tIns="0" lIns="0" bIns="0" rIns="0">
            <a:spAutoFit/>
          </a:bodyPr>
          <a:lstStyle/>
          <a:p>
            <a:pPr algn="l" marL="0" indent="0" lvl="0">
              <a:lnSpc>
                <a:spcPts val="3437"/>
              </a:lnSpc>
              <a:spcBef>
                <a:spcPct val="0"/>
              </a:spcBef>
            </a:pPr>
            <a:r>
              <a:rPr lang="en-US" b="true" sz="2864">
                <a:solidFill>
                  <a:srgbClr val="FFFFFF"/>
                </a:solidFill>
                <a:latin typeface="Fira Sans Medium"/>
                <a:ea typeface="Fira Sans Medium"/>
                <a:cs typeface="Fira Sans Medium"/>
                <a:sym typeface="Fira Sans Medium"/>
              </a:rPr>
              <a:t>CHARGING TIME</a:t>
            </a:r>
          </a:p>
        </p:txBody>
      </p:sp>
      <p:sp>
        <p:nvSpPr>
          <p:cNvPr name="TextBox 26" id="26"/>
          <p:cNvSpPr txBox="true"/>
          <p:nvPr/>
        </p:nvSpPr>
        <p:spPr>
          <a:xfrm rot="0">
            <a:off x="6351573" y="1526009"/>
            <a:ext cx="3171440" cy="400050"/>
          </a:xfrm>
          <a:prstGeom prst="rect">
            <a:avLst/>
          </a:prstGeom>
        </p:spPr>
        <p:txBody>
          <a:bodyPr anchor="t" rtlCol="false" tIns="0" lIns="0" bIns="0" rIns="0">
            <a:spAutoFit/>
          </a:bodyPr>
          <a:lstStyle/>
          <a:p>
            <a:pPr algn="l" marL="0" indent="0" lvl="0">
              <a:lnSpc>
                <a:spcPts val="3120"/>
              </a:lnSpc>
              <a:spcBef>
                <a:spcPct val="0"/>
              </a:spcBef>
            </a:pPr>
            <a:r>
              <a:rPr lang="en-US" b="true" sz="2600">
                <a:solidFill>
                  <a:srgbClr val="FFFFFF"/>
                </a:solidFill>
                <a:latin typeface="Fira Sans Medium"/>
                <a:ea typeface="Fira Sans Medium"/>
                <a:cs typeface="Fira Sans Medium"/>
                <a:sym typeface="Fira Sans Medium"/>
              </a:rPr>
              <a:t>TEMPERATURE RISE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0" y="2226683"/>
            <a:ext cx="10523689" cy="4348800"/>
            <a:chOff x="0" y="0"/>
            <a:chExt cx="2718226" cy="1123277"/>
          </a:xfrm>
        </p:grpSpPr>
        <p:sp>
          <p:nvSpPr>
            <p:cNvPr name="Freeform 3" id="3"/>
            <p:cNvSpPr/>
            <p:nvPr/>
          </p:nvSpPr>
          <p:spPr>
            <a:xfrm flipH="false" flipV="false" rot="0">
              <a:off x="0" y="0"/>
              <a:ext cx="2718226" cy="1123277"/>
            </a:xfrm>
            <a:custGeom>
              <a:avLst/>
              <a:gdLst/>
              <a:ahLst/>
              <a:cxnLst/>
              <a:rect r="r" b="b" t="t" l="l"/>
              <a:pathLst>
                <a:path h="1123277" w="2718226">
                  <a:moveTo>
                    <a:pt x="7357" y="0"/>
                  </a:moveTo>
                  <a:lnTo>
                    <a:pt x="2710869" y="0"/>
                  </a:lnTo>
                  <a:cubicBezTo>
                    <a:pt x="2714932" y="0"/>
                    <a:pt x="2718226" y="3294"/>
                    <a:pt x="2718226" y="7357"/>
                  </a:cubicBezTo>
                  <a:lnTo>
                    <a:pt x="2718226" y="1115921"/>
                  </a:lnTo>
                  <a:cubicBezTo>
                    <a:pt x="2718226" y="1119984"/>
                    <a:pt x="2714932" y="1123277"/>
                    <a:pt x="2710869" y="1123277"/>
                  </a:cubicBezTo>
                  <a:lnTo>
                    <a:pt x="7357" y="1123277"/>
                  </a:lnTo>
                  <a:cubicBezTo>
                    <a:pt x="3294" y="1123277"/>
                    <a:pt x="0" y="1119984"/>
                    <a:pt x="0" y="1115921"/>
                  </a:cubicBezTo>
                  <a:lnTo>
                    <a:pt x="0" y="7357"/>
                  </a:lnTo>
                  <a:cubicBezTo>
                    <a:pt x="0" y="3294"/>
                    <a:pt x="3294" y="0"/>
                    <a:pt x="7357" y="0"/>
                  </a:cubicBezTo>
                  <a:close/>
                </a:path>
              </a:pathLst>
            </a:custGeom>
            <a:solidFill>
              <a:srgbClr val="00B58F"/>
            </a:solidFill>
            <a:ln cap="sq">
              <a:noFill/>
              <a:prstDash val="solid"/>
              <a:miter/>
            </a:ln>
          </p:spPr>
        </p:sp>
        <p:sp>
          <p:nvSpPr>
            <p:cNvPr name="TextBox 4" id="4"/>
            <p:cNvSpPr txBox="true"/>
            <p:nvPr/>
          </p:nvSpPr>
          <p:spPr>
            <a:xfrm>
              <a:off x="0" y="-38100"/>
              <a:ext cx="2718226" cy="1161377"/>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2426731" y="3169056"/>
            <a:ext cx="3077979" cy="5545320"/>
            <a:chOff x="0" y="0"/>
            <a:chExt cx="795029" cy="1432334"/>
          </a:xfrm>
        </p:grpSpPr>
        <p:sp>
          <p:nvSpPr>
            <p:cNvPr name="Freeform 6" id="6"/>
            <p:cNvSpPr/>
            <p:nvPr/>
          </p:nvSpPr>
          <p:spPr>
            <a:xfrm flipH="false" flipV="false" rot="0">
              <a:off x="0" y="0"/>
              <a:ext cx="795030" cy="1432334"/>
            </a:xfrm>
            <a:custGeom>
              <a:avLst/>
              <a:gdLst/>
              <a:ahLst/>
              <a:cxnLst/>
              <a:rect r="r" b="b" t="t" l="l"/>
              <a:pathLst>
                <a:path h="1432334" w="795030">
                  <a:moveTo>
                    <a:pt x="150916" y="0"/>
                  </a:moveTo>
                  <a:lnTo>
                    <a:pt x="644114" y="0"/>
                  </a:lnTo>
                  <a:cubicBezTo>
                    <a:pt x="684139" y="0"/>
                    <a:pt x="722525" y="15900"/>
                    <a:pt x="750827" y="44202"/>
                  </a:cubicBezTo>
                  <a:cubicBezTo>
                    <a:pt x="779130" y="72504"/>
                    <a:pt x="795030" y="110890"/>
                    <a:pt x="795030" y="150916"/>
                  </a:cubicBezTo>
                  <a:lnTo>
                    <a:pt x="795030" y="1281418"/>
                  </a:lnTo>
                  <a:cubicBezTo>
                    <a:pt x="795030" y="1321443"/>
                    <a:pt x="779130" y="1359829"/>
                    <a:pt x="750827" y="1388131"/>
                  </a:cubicBezTo>
                  <a:cubicBezTo>
                    <a:pt x="722525" y="1416434"/>
                    <a:pt x="684139" y="1432334"/>
                    <a:pt x="644114" y="1432334"/>
                  </a:cubicBezTo>
                  <a:lnTo>
                    <a:pt x="150916" y="1432334"/>
                  </a:lnTo>
                  <a:cubicBezTo>
                    <a:pt x="110890" y="1432334"/>
                    <a:pt x="72504" y="1416434"/>
                    <a:pt x="44202" y="1388131"/>
                  </a:cubicBezTo>
                  <a:cubicBezTo>
                    <a:pt x="15900" y="1359829"/>
                    <a:pt x="0" y="1321443"/>
                    <a:pt x="0" y="1281418"/>
                  </a:cubicBezTo>
                  <a:lnTo>
                    <a:pt x="0" y="150916"/>
                  </a:lnTo>
                  <a:cubicBezTo>
                    <a:pt x="0" y="110890"/>
                    <a:pt x="15900" y="72504"/>
                    <a:pt x="44202" y="44202"/>
                  </a:cubicBezTo>
                  <a:cubicBezTo>
                    <a:pt x="72504" y="15900"/>
                    <a:pt x="110890" y="0"/>
                    <a:pt x="150916" y="0"/>
                  </a:cubicBezTo>
                  <a:close/>
                </a:path>
              </a:pathLst>
            </a:custGeom>
            <a:ln w="19050" cap="rnd">
              <a:solidFill>
                <a:srgbClr val="00B58F"/>
              </a:solidFill>
              <a:prstDash val="solid"/>
              <a:round/>
            </a:ln>
          </p:spPr>
        </p:sp>
        <p:sp>
          <p:nvSpPr>
            <p:cNvPr name="TextBox 7" id="7"/>
            <p:cNvSpPr txBox="true"/>
            <p:nvPr/>
          </p:nvSpPr>
          <p:spPr>
            <a:xfrm>
              <a:off x="0" y="-38100"/>
              <a:ext cx="795029" cy="147043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2723348" y="2614263"/>
            <a:ext cx="3946558" cy="6644037"/>
            <a:chOff x="0" y="0"/>
            <a:chExt cx="3771900" cy="6350000"/>
          </a:xfrm>
        </p:grpSpPr>
        <p:sp>
          <p:nvSpPr>
            <p:cNvPr name="Freeform 9" id="9"/>
            <p:cNvSpPr/>
            <p:nvPr/>
          </p:nvSpPr>
          <p:spPr>
            <a:xfrm flipH="false" flipV="false" rot="0">
              <a:off x="0" y="0"/>
              <a:ext cx="3771900" cy="6349937"/>
            </a:xfrm>
            <a:custGeom>
              <a:avLst/>
              <a:gdLst/>
              <a:ahLst/>
              <a:cxnLst/>
              <a:rect r="r" b="b" t="t" l="l"/>
              <a:pathLst>
                <a:path h="6349937" w="3771900">
                  <a:moveTo>
                    <a:pt x="0" y="546100"/>
                  </a:moveTo>
                  <a:lnTo>
                    <a:pt x="0" y="3953510"/>
                  </a:lnTo>
                  <a:cubicBezTo>
                    <a:pt x="0" y="4132580"/>
                    <a:pt x="87630" y="4301490"/>
                    <a:pt x="236220" y="4403090"/>
                  </a:cubicBezTo>
                  <a:lnTo>
                    <a:pt x="2914650" y="6252210"/>
                  </a:lnTo>
                  <a:cubicBezTo>
                    <a:pt x="3276600" y="6502400"/>
                    <a:pt x="3771900" y="6243320"/>
                    <a:pt x="3771900" y="5802630"/>
                  </a:cubicBezTo>
                  <a:lnTo>
                    <a:pt x="3771900" y="546100"/>
                  </a:lnTo>
                  <a:cubicBezTo>
                    <a:pt x="3771900" y="243840"/>
                    <a:pt x="3526790" y="0"/>
                    <a:pt x="3225800" y="0"/>
                  </a:cubicBezTo>
                  <a:lnTo>
                    <a:pt x="546100" y="0"/>
                  </a:lnTo>
                  <a:cubicBezTo>
                    <a:pt x="245110" y="0"/>
                    <a:pt x="0" y="245110"/>
                    <a:pt x="0" y="546100"/>
                  </a:cubicBezTo>
                  <a:close/>
                </a:path>
              </a:pathLst>
            </a:custGeom>
            <a:blipFill>
              <a:blip r:embed="rId2"/>
              <a:stretch>
                <a:fillRect l="-45919" t="0" r="-17095" b="-29109"/>
              </a:stretch>
            </a:blipFill>
          </p:spPr>
        </p:sp>
      </p:grpSp>
      <p:sp>
        <p:nvSpPr>
          <p:cNvPr name="TextBox 10" id="10"/>
          <p:cNvSpPr txBox="true"/>
          <p:nvPr/>
        </p:nvSpPr>
        <p:spPr>
          <a:xfrm rot="0">
            <a:off x="953562" y="1459214"/>
            <a:ext cx="14407715" cy="848360"/>
          </a:xfrm>
          <a:prstGeom prst="rect">
            <a:avLst/>
          </a:prstGeom>
        </p:spPr>
        <p:txBody>
          <a:bodyPr anchor="t" rtlCol="false" tIns="0" lIns="0" bIns="0" rIns="0">
            <a:spAutoFit/>
          </a:bodyPr>
          <a:lstStyle/>
          <a:p>
            <a:pPr algn="l">
              <a:lnSpc>
                <a:spcPts val="6399"/>
              </a:lnSpc>
            </a:pPr>
            <a:r>
              <a:rPr lang="en-US" sz="6399">
                <a:solidFill>
                  <a:srgbClr val="0B132B"/>
                </a:solidFill>
                <a:latin typeface="Rubik One"/>
                <a:ea typeface="Rubik One"/>
                <a:cs typeface="Rubik One"/>
                <a:sym typeface="Rubik One"/>
              </a:rPr>
              <a:t>CONCLUSION</a:t>
            </a:r>
          </a:p>
        </p:txBody>
      </p:sp>
      <p:grpSp>
        <p:nvGrpSpPr>
          <p:cNvPr name="Group 11" id="11"/>
          <p:cNvGrpSpPr/>
          <p:nvPr/>
        </p:nvGrpSpPr>
        <p:grpSpPr>
          <a:xfrm rot="-8714302">
            <a:off x="12302692" y="8266204"/>
            <a:ext cx="3052823" cy="1082740"/>
            <a:chOff x="0" y="0"/>
            <a:chExt cx="3787228" cy="1343210"/>
          </a:xfrm>
        </p:grpSpPr>
        <p:sp>
          <p:nvSpPr>
            <p:cNvPr name="Freeform 12" id="12"/>
            <p:cNvSpPr/>
            <p:nvPr/>
          </p:nvSpPr>
          <p:spPr>
            <a:xfrm flipH="false" flipV="false" rot="0">
              <a:off x="17278" y="8081"/>
              <a:ext cx="3752672" cy="1335129"/>
            </a:xfrm>
            <a:custGeom>
              <a:avLst/>
              <a:gdLst/>
              <a:ahLst/>
              <a:cxnLst/>
              <a:rect r="r" b="b" t="t" l="l"/>
              <a:pathLst>
                <a:path h="1335129" w="3752672">
                  <a:moveTo>
                    <a:pt x="1897020" y="6591"/>
                  </a:moveTo>
                  <a:lnTo>
                    <a:pt x="3749266" y="1320457"/>
                  </a:lnTo>
                  <a:cubicBezTo>
                    <a:pt x="3752135" y="1322492"/>
                    <a:pt x="3753358" y="1326150"/>
                    <a:pt x="3752290" y="1329502"/>
                  </a:cubicBezTo>
                  <a:cubicBezTo>
                    <a:pt x="3751222" y="1332854"/>
                    <a:pt x="3748108" y="1335129"/>
                    <a:pt x="3744590" y="1335129"/>
                  </a:cubicBezTo>
                  <a:lnTo>
                    <a:pt x="8082" y="1335129"/>
                  </a:lnTo>
                  <a:cubicBezTo>
                    <a:pt x="4564" y="1335129"/>
                    <a:pt x="1450" y="1332854"/>
                    <a:pt x="382" y="1329502"/>
                  </a:cubicBezTo>
                  <a:cubicBezTo>
                    <a:pt x="-686" y="1326150"/>
                    <a:pt x="537" y="1322492"/>
                    <a:pt x="3406" y="1320457"/>
                  </a:cubicBezTo>
                  <a:lnTo>
                    <a:pt x="1855652" y="6591"/>
                  </a:lnTo>
                  <a:cubicBezTo>
                    <a:pt x="1868041" y="-2197"/>
                    <a:pt x="1884631" y="-2197"/>
                    <a:pt x="1897020" y="6591"/>
                  </a:cubicBezTo>
                  <a:close/>
                </a:path>
              </a:pathLst>
            </a:custGeom>
            <a:solidFill>
              <a:srgbClr val="00B58F"/>
            </a:solidFill>
          </p:spPr>
        </p:sp>
        <p:sp>
          <p:nvSpPr>
            <p:cNvPr name="TextBox 13" id="13"/>
            <p:cNvSpPr txBox="true"/>
            <p:nvPr/>
          </p:nvSpPr>
          <p:spPr>
            <a:xfrm>
              <a:off x="591754" y="585533"/>
              <a:ext cx="2603719" cy="661733"/>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3150242" y="9960324"/>
            <a:ext cx="9960587" cy="1142074"/>
            <a:chOff x="0" y="0"/>
            <a:chExt cx="2572779" cy="294993"/>
          </a:xfrm>
        </p:grpSpPr>
        <p:sp>
          <p:nvSpPr>
            <p:cNvPr name="Freeform 15" id="15"/>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16" id="16"/>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3829104" y="-784283"/>
            <a:ext cx="12967080" cy="1142074"/>
            <a:chOff x="0" y="0"/>
            <a:chExt cx="3349344" cy="294993"/>
          </a:xfrm>
        </p:grpSpPr>
        <p:sp>
          <p:nvSpPr>
            <p:cNvPr name="Freeform 18" id="18"/>
            <p:cNvSpPr/>
            <p:nvPr/>
          </p:nvSpPr>
          <p:spPr>
            <a:xfrm flipH="false" flipV="false" rot="0">
              <a:off x="0" y="0"/>
              <a:ext cx="3349344" cy="294993"/>
            </a:xfrm>
            <a:custGeom>
              <a:avLst/>
              <a:gdLst/>
              <a:ahLst/>
              <a:cxnLst/>
              <a:rect r="r" b="b" t="t" l="l"/>
              <a:pathLst>
                <a:path h="294993" w="3349344">
                  <a:moveTo>
                    <a:pt x="35823" y="0"/>
                  </a:moveTo>
                  <a:lnTo>
                    <a:pt x="3313521" y="0"/>
                  </a:lnTo>
                  <a:cubicBezTo>
                    <a:pt x="3323022" y="0"/>
                    <a:pt x="3332134" y="3774"/>
                    <a:pt x="3338852" y="10492"/>
                  </a:cubicBezTo>
                  <a:cubicBezTo>
                    <a:pt x="3345570" y="17210"/>
                    <a:pt x="3349344" y="26322"/>
                    <a:pt x="3349344" y="35823"/>
                  </a:cubicBezTo>
                  <a:lnTo>
                    <a:pt x="3349344" y="259170"/>
                  </a:lnTo>
                  <a:cubicBezTo>
                    <a:pt x="3349344" y="278955"/>
                    <a:pt x="3333306" y="294993"/>
                    <a:pt x="3313521" y="294993"/>
                  </a:cubicBezTo>
                  <a:lnTo>
                    <a:pt x="35823" y="294993"/>
                  </a:lnTo>
                  <a:cubicBezTo>
                    <a:pt x="16038" y="294993"/>
                    <a:pt x="0" y="278955"/>
                    <a:pt x="0" y="259170"/>
                  </a:cubicBezTo>
                  <a:lnTo>
                    <a:pt x="0" y="35823"/>
                  </a:lnTo>
                  <a:cubicBezTo>
                    <a:pt x="0" y="16038"/>
                    <a:pt x="16038" y="0"/>
                    <a:pt x="35823" y="0"/>
                  </a:cubicBezTo>
                  <a:close/>
                </a:path>
              </a:pathLst>
            </a:custGeom>
            <a:ln w="19050" cap="rnd">
              <a:solidFill>
                <a:srgbClr val="00B58F"/>
              </a:solidFill>
              <a:prstDash val="solid"/>
              <a:round/>
            </a:ln>
          </p:spPr>
        </p:sp>
        <p:sp>
          <p:nvSpPr>
            <p:cNvPr name="TextBox 19" id="19"/>
            <p:cNvSpPr txBox="true"/>
            <p:nvPr/>
          </p:nvSpPr>
          <p:spPr>
            <a:xfrm>
              <a:off x="0" y="-38100"/>
              <a:ext cx="3349344" cy="333093"/>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0" y="2622674"/>
            <a:ext cx="9976014" cy="4869843"/>
          </a:xfrm>
          <a:prstGeom prst="rect">
            <a:avLst/>
          </a:prstGeom>
        </p:spPr>
        <p:txBody>
          <a:bodyPr anchor="t" rtlCol="false" tIns="0" lIns="0" bIns="0" rIns="0">
            <a:spAutoFit/>
          </a:bodyPr>
          <a:lstStyle/>
          <a:p>
            <a:pPr algn="ctr" marL="600888" indent="-300444" lvl="1">
              <a:lnSpc>
                <a:spcPts val="3896"/>
              </a:lnSpc>
              <a:buFont typeface="Arial"/>
              <a:buChar char="•"/>
            </a:pPr>
            <a:r>
              <a:rPr lang="en-US" sz="2783">
                <a:solidFill>
                  <a:srgbClr val="EDF6F9"/>
                </a:solidFill>
                <a:latin typeface="Bricolage Grotesque"/>
                <a:ea typeface="Bricolage Grotesque"/>
                <a:cs typeface="Bricolage Grotesque"/>
                <a:sym typeface="Bricolage Grotesque"/>
              </a:rPr>
              <a:t>The proposed charging profile reduces the overall charging time compared to the conventional CC–CV method.</a:t>
            </a:r>
          </a:p>
          <a:p>
            <a:pPr algn="ctr" marL="600888" indent="-300444" lvl="1">
              <a:lnSpc>
                <a:spcPts val="3896"/>
              </a:lnSpc>
              <a:buFont typeface="Arial"/>
              <a:buChar char="•"/>
            </a:pPr>
            <a:r>
              <a:rPr lang="en-US" sz="2783">
                <a:solidFill>
                  <a:srgbClr val="EDF6F9"/>
                </a:solidFill>
                <a:latin typeface="Bricolage Grotesque"/>
                <a:ea typeface="Bricolage Grotesque"/>
                <a:cs typeface="Bricolage Grotesque"/>
                <a:sym typeface="Bricolage Grotesque"/>
              </a:rPr>
              <a:t>It effectively limits the temperature rise by incorporating thermal control during charging.</a:t>
            </a:r>
          </a:p>
          <a:p>
            <a:pPr algn="ctr" marL="600888" indent="-300444" lvl="1">
              <a:lnSpc>
                <a:spcPts val="3896"/>
              </a:lnSpc>
              <a:buFont typeface="Arial"/>
              <a:buChar char="•"/>
            </a:pPr>
            <a:r>
              <a:rPr lang="en-US" sz="2783">
                <a:solidFill>
                  <a:srgbClr val="EDF6F9"/>
                </a:solidFill>
                <a:latin typeface="Bricolage Grotesque"/>
                <a:ea typeface="Bricolage Grotesque"/>
                <a:cs typeface="Bricolage Grotesque"/>
                <a:sym typeface="Bricolage Grotesque"/>
              </a:rPr>
              <a:t>Thus, the CT-CV method ensures faster, safer, and more efficient battery charging performance.</a:t>
            </a:r>
          </a:p>
          <a:p>
            <a:pPr algn="ctr">
              <a:lnSpc>
                <a:spcPts val="3896"/>
              </a:lnSpc>
            </a:pPr>
          </a:p>
          <a:p>
            <a:pPr algn="ctr">
              <a:lnSpc>
                <a:spcPts val="3896"/>
              </a:lnSpc>
            </a:pPr>
          </a:p>
          <a:p>
            <a:pPr algn="ctr">
              <a:lnSpc>
                <a:spcPts val="3896"/>
              </a:lnSpc>
              <a:spcBef>
                <a:spcPct val="0"/>
              </a:spcBef>
            </a:pPr>
          </a:p>
        </p:txBody>
      </p:sp>
      <p:sp>
        <p:nvSpPr>
          <p:cNvPr name="TextBox 21" id="21"/>
          <p:cNvSpPr txBox="true"/>
          <p:nvPr/>
        </p:nvSpPr>
        <p:spPr>
          <a:xfrm rot="0">
            <a:off x="0" y="6518333"/>
            <a:ext cx="10458476" cy="4334937"/>
          </a:xfrm>
          <a:prstGeom prst="rect">
            <a:avLst/>
          </a:prstGeom>
        </p:spPr>
        <p:txBody>
          <a:bodyPr anchor="t" rtlCol="false" tIns="0" lIns="0" bIns="0" rIns="0">
            <a:spAutoFit/>
          </a:bodyPr>
          <a:lstStyle/>
          <a:p>
            <a:pPr algn="ctr">
              <a:lnSpc>
                <a:spcPts val="3854"/>
              </a:lnSpc>
            </a:pPr>
            <a:r>
              <a:rPr lang="en-US" sz="2753">
                <a:solidFill>
                  <a:srgbClr val="000000"/>
                </a:solidFill>
                <a:latin typeface="Bricolage Grotesque"/>
                <a:ea typeface="Bricolage Grotesque"/>
                <a:cs typeface="Bricolage Grotesque"/>
                <a:sym typeface="Bricolage Grotesque"/>
              </a:rPr>
              <a:t>REFERENCE: </a:t>
            </a:r>
          </a:p>
          <a:p>
            <a:pPr algn="ctr">
              <a:lnSpc>
                <a:spcPts val="3854"/>
              </a:lnSpc>
            </a:pPr>
            <a:r>
              <a:rPr lang="en-US" sz="2753">
                <a:solidFill>
                  <a:srgbClr val="000000"/>
                </a:solidFill>
                <a:latin typeface="Bricolage Grotesque"/>
                <a:ea typeface="Bricolage Grotesque"/>
                <a:cs typeface="Bricolage Grotesque"/>
                <a:sym typeface="Bricolage Grotesque"/>
              </a:rPr>
              <a:t>IEEE PAPERS:</a:t>
            </a:r>
          </a:p>
          <a:p>
            <a:pPr algn="ctr">
              <a:lnSpc>
                <a:spcPts val="3854"/>
              </a:lnSpc>
            </a:pPr>
            <a:r>
              <a:rPr lang="en-US" sz="2753">
                <a:solidFill>
                  <a:srgbClr val="000000"/>
                </a:solidFill>
                <a:latin typeface="Bricolage Grotesque"/>
                <a:ea typeface="Bricolage Grotesque"/>
                <a:cs typeface="Bricolage Grotesque"/>
                <a:sym typeface="Bricolage Grotesque"/>
              </a:rPr>
              <a:t>A Closed-Loop Constant-Temperature Constant-Voltage Charging Technique to Reduce Charge Time of Lithium-Ion Batteries</a:t>
            </a:r>
          </a:p>
          <a:p>
            <a:pPr algn="ctr">
              <a:lnSpc>
                <a:spcPts val="3854"/>
              </a:lnSpc>
            </a:pPr>
            <a:r>
              <a:rPr lang="en-US" sz="2753" b="true">
                <a:solidFill>
                  <a:srgbClr val="000000"/>
                </a:solidFill>
                <a:latin typeface="Bricolage Grotesque Bold"/>
                <a:ea typeface="Bricolage Grotesque Bold"/>
                <a:cs typeface="Bricolage Grotesque Bold"/>
                <a:sym typeface="Bricolage Grotesque Bold"/>
              </a:rPr>
              <a:t>Performance Analysis of the Lithium-Ion Batteries using CT-CV Charging Technique</a:t>
            </a:r>
          </a:p>
          <a:p>
            <a:pPr algn="ctr">
              <a:lnSpc>
                <a:spcPts val="3854"/>
              </a:lnSpc>
            </a:pPr>
          </a:p>
          <a:p>
            <a:pPr algn="ctr">
              <a:lnSpc>
                <a:spcPts val="3854"/>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564646" y="821953"/>
            <a:ext cx="4583015" cy="8032825"/>
            <a:chOff x="0" y="0"/>
            <a:chExt cx="1183774" cy="2074846"/>
          </a:xfrm>
        </p:grpSpPr>
        <p:sp>
          <p:nvSpPr>
            <p:cNvPr name="Freeform 3" id="3"/>
            <p:cNvSpPr/>
            <p:nvPr/>
          </p:nvSpPr>
          <p:spPr>
            <a:xfrm flipH="false" flipV="false" rot="0">
              <a:off x="0" y="0"/>
              <a:ext cx="1183774" cy="2074846"/>
            </a:xfrm>
            <a:custGeom>
              <a:avLst/>
              <a:gdLst/>
              <a:ahLst/>
              <a:cxnLst/>
              <a:rect r="r" b="b" t="t" l="l"/>
              <a:pathLst>
                <a:path h="2074846" w="1183774">
                  <a:moveTo>
                    <a:pt x="101356" y="0"/>
                  </a:moveTo>
                  <a:lnTo>
                    <a:pt x="1082418" y="0"/>
                  </a:lnTo>
                  <a:cubicBezTo>
                    <a:pt x="1138396" y="0"/>
                    <a:pt x="1183774" y="45379"/>
                    <a:pt x="1183774" y="101356"/>
                  </a:cubicBezTo>
                  <a:lnTo>
                    <a:pt x="1183774" y="1973490"/>
                  </a:lnTo>
                  <a:cubicBezTo>
                    <a:pt x="1183774" y="2029467"/>
                    <a:pt x="1138396" y="2074846"/>
                    <a:pt x="1082418" y="2074846"/>
                  </a:cubicBezTo>
                  <a:lnTo>
                    <a:pt x="101356" y="2074846"/>
                  </a:lnTo>
                  <a:cubicBezTo>
                    <a:pt x="74475" y="2074846"/>
                    <a:pt x="48694" y="2064167"/>
                    <a:pt x="29686" y="2045160"/>
                  </a:cubicBezTo>
                  <a:cubicBezTo>
                    <a:pt x="10679" y="2026152"/>
                    <a:pt x="0" y="2000372"/>
                    <a:pt x="0" y="1973490"/>
                  </a:cubicBezTo>
                  <a:lnTo>
                    <a:pt x="0" y="101356"/>
                  </a:lnTo>
                  <a:cubicBezTo>
                    <a:pt x="0" y="45379"/>
                    <a:pt x="45379" y="0"/>
                    <a:pt x="101356" y="0"/>
                  </a:cubicBezTo>
                  <a:close/>
                </a:path>
              </a:pathLst>
            </a:custGeom>
            <a:ln w="19050" cap="rnd">
              <a:solidFill>
                <a:srgbClr val="00B58F"/>
              </a:solidFill>
              <a:prstDash val="solid"/>
              <a:round/>
            </a:ln>
          </p:spPr>
        </p:sp>
        <p:sp>
          <p:nvSpPr>
            <p:cNvPr name="TextBox 4" id="4"/>
            <p:cNvSpPr txBox="true"/>
            <p:nvPr/>
          </p:nvSpPr>
          <p:spPr>
            <a:xfrm>
              <a:off x="0" y="-38100"/>
              <a:ext cx="1183774" cy="211294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839271" y="1042175"/>
            <a:ext cx="5329489" cy="8229600"/>
            <a:chOff x="0" y="0"/>
            <a:chExt cx="4112260" cy="6350000"/>
          </a:xfrm>
        </p:grpSpPr>
        <p:sp>
          <p:nvSpPr>
            <p:cNvPr name="Freeform 6" id="6"/>
            <p:cNvSpPr/>
            <p:nvPr/>
          </p:nvSpPr>
          <p:spPr>
            <a:xfrm flipH="false" flipV="false" rot="0">
              <a:off x="0" y="0"/>
              <a:ext cx="4112260" cy="6350000"/>
            </a:xfrm>
            <a:custGeom>
              <a:avLst/>
              <a:gdLst/>
              <a:ahLst/>
              <a:cxnLst/>
              <a:rect r="r" b="b" t="t" l="l"/>
              <a:pathLst>
                <a:path h="6350000" w="4112260">
                  <a:moveTo>
                    <a:pt x="4112260" y="623570"/>
                  </a:moveTo>
                  <a:lnTo>
                    <a:pt x="4112260" y="2641600"/>
                  </a:lnTo>
                  <a:cubicBezTo>
                    <a:pt x="4112260" y="2821940"/>
                    <a:pt x="4033520" y="2993390"/>
                    <a:pt x="3897630" y="3112770"/>
                  </a:cubicBezTo>
                  <a:cubicBezTo>
                    <a:pt x="3761740" y="3230880"/>
                    <a:pt x="3683000" y="3402330"/>
                    <a:pt x="3683000" y="3583940"/>
                  </a:cubicBezTo>
                  <a:lnTo>
                    <a:pt x="3683000" y="5726430"/>
                  </a:lnTo>
                  <a:cubicBezTo>
                    <a:pt x="3683000" y="6070600"/>
                    <a:pt x="3403600" y="6350000"/>
                    <a:pt x="3059430" y="6350000"/>
                  </a:cubicBezTo>
                  <a:lnTo>
                    <a:pt x="623570" y="6350000"/>
                  </a:lnTo>
                  <a:cubicBezTo>
                    <a:pt x="279400" y="6350000"/>
                    <a:pt x="0" y="6070600"/>
                    <a:pt x="0" y="5726430"/>
                  </a:cubicBezTo>
                  <a:lnTo>
                    <a:pt x="0" y="623570"/>
                  </a:lnTo>
                  <a:cubicBezTo>
                    <a:pt x="0" y="279400"/>
                    <a:pt x="279400" y="0"/>
                    <a:pt x="623570" y="0"/>
                  </a:cubicBezTo>
                  <a:lnTo>
                    <a:pt x="3489960" y="0"/>
                  </a:lnTo>
                  <a:cubicBezTo>
                    <a:pt x="3834130" y="0"/>
                    <a:pt x="4112260" y="279400"/>
                    <a:pt x="4112260" y="623570"/>
                  </a:cubicBezTo>
                  <a:close/>
                </a:path>
              </a:pathLst>
            </a:custGeom>
            <a:blipFill>
              <a:blip r:embed="rId2"/>
              <a:stretch>
                <a:fillRect l="-101975" t="0" r="-29794" b="0"/>
              </a:stretch>
            </a:blipFill>
          </p:spPr>
        </p:sp>
      </p:grpSp>
      <p:sp>
        <p:nvSpPr>
          <p:cNvPr name="Freeform 7" id="7"/>
          <p:cNvSpPr/>
          <p:nvPr/>
        </p:nvSpPr>
        <p:spPr>
          <a:xfrm flipH="false" flipV="false" rot="0">
            <a:off x="5666775" y="2709357"/>
            <a:ext cx="4188528" cy="6755690"/>
          </a:xfrm>
          <a:custGeom>
            <a:avLst/>
            <a:gdLst/>
            <a:ahLst/>
            <a:cxnLst/>
            <a:rect r="r" b="b" t="t" l="l"/>
            <a:pathLst>
              <a:path h="6755690" w="4188528">
                <a:moveTo>
                  <a:pt x="0" y="0"/>
                </a:moveTo>
                <a:lnTo>
                  <a:pt x="4188527" y="0"/>
                </a:lnTo>
                <a:lnTo>
                  <a:pt x="4188527" y="6755690"/>
                </a:lnTo>
                <a:lnTo>
                  <a:pt x="0" y="6755690"/>
                </a:lnTo>
                <a:lnTo>
                  <a:pt x="0" y="0"/>
                </a:lnTo>
                <a:close/>
              </a:path>
            </a:pathLst>
          </a:custGeom>
          <a:blipFill>
            <a:blip r:embed="rId3"/>
            <a:stretch>
              <a:fillRect l="0" t="0" r="0" b="0"/>
            </a:stretch>
          </a:blipFill>
        </p:spPr>
      </p:sp>
      <p:grpSp>
        <p:nvGrpSpPr>
          <p:cNvPr name="Group 8" id="8"/>
          <p:cNvGrpSpPr/>
          <p:nvPr/>
        </p:nvGrpSpPr>
        <p:grpSpPr>
          <a:xfrm rot="0">
            <a:off x="6315654" y="2901375"/>
            <a:ext cx="2879468" cy="6216744"/>
            <a:chOff x="0" y="0"/>
            <a:chExt cx="692799" cy="1495748"/>
          </a:xfrm>
        </p:grpSpPr>
        <p:sp>
          <p:nvSpPr>
            <p:cNvPr name="Freeform 9" id="9"/>
            <p:cNvSpPr/>
            <p:nvPr/>
          </p:nvSpPr>
          <p:spPr>
            <a:xfrm flipH="false" flipV="false" rot="0">
              <a:off x="0" y="0"/>
              <a:ext cx="692799" cy="1495748"/>
            </a:xfrm>
            <a:custGeom>
              <a:avLst/>
              <a:gdLst/>
              <a:ahLst/>
              <a:cxnLst/>
              <a:rect r="r" b="b" t="t" l="l"/>
              <a:pathLst>
                <a:path h="1495748" w="692799">
                  <a:moveTo>
                    <a:pt x="67217" y="0"/>
                  </a:moveTo>
                  <a:lnTo>
                    <a:pt x="625583" y="0"/>
                  </a:lnTo>
                  <a:cubicBezTo>
                    <a:pt x="662705" y="0"/>
                    <a:pt x="692799" y="30094"/>
                    <a:pt x="692799" y="67217"/>
                  </a:cubicBezTo>
                  <a:lnTo>
                    <a:pt x="692799" y="1428531"/>
                  </a:lnTo>
                  <a:cubicBezTo>
                    <a:pt x="692799" y="1465654"/>
                    <a:pt x="662705" y="1495748"/>
                    <a:pt x="625583" y="1495748"/>
                  </a:cubicBezTo>
                  <a:lnTo>
                    <a:pt x="67217" y="1495748"/>
                  </a:lnTo>
                  <a:cubicBezTo>
                    <a:pt x="49390" y="1495748"/>
                    <a:pt x="32293" y="1488666"/>
                    <a:pt x="19687" y="1476060"/>
                  </a:cubicBezTo>
                  <a:cubicBezTo>
                    <a:pt x="7082" y="1463455"/>
                    <a:pt x="0" y="1446358"/>
                    <a:pt x="0" y="1428531"/>
                  </a:cubicBezTo>
                  <a:lnTo>
                    <a:pt x="0" y="67217"/>
                  </a:lnTo>
                  <a:cubicBezTo>
                    <a:pt x="0" y="30094"/>
                    <a:pt x="30094" y="0"/>
                    <a:pt x="67217" y="0"/>
                  </a:cubicBezTo>
                  <a:close/>
                </a:path>
              </a:pathLst>
            </a:custGeom>
            <a:solidFill>
              <a:srgbClr val="00B58F"/>
            </a:solidFill>
          </p:spPr>
        </p:sp>
        <p:sp>
          <p:nvSpPr>
            <p:cNvPr name="TextBox 10" id="10"/>
            <p:cNvSpPr txBox="true"/>
            <p:nvPr/>
          </p:nvSpPr>
          <p:spPr>
            <a:xfrm>
              <a:off x="0" y="-38100"/>
              <a:ext cx="692799" cy="1533848"/>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6953169" y="3774215"/>
            <a:ext cx="1604438" cy="1277716"/>
          </a:xfrm>
          <a:custGeom>
            <a:avLst/>
            <a:gdLst/>
            <a:ahLst/>
            <a:cxnLst/>
            <a:rect r="r" b="b" t="t" l="l"/>
            <a:pathLst>
              <a:path h="1277716" w="1604438">
                <a:moveTo>
                  <a:pt x="0" y="0"/>
                </a:moveTo>
                <a:lnTo>
                  <a:pt x="1604438" y="0"/>
                </a:lnTo>
                <a:lnTo>
                  <a:pt x="1604438" y="1277716"/>
                </a:lnTo>
                <a:lnTo>
                  <a:pt x="0" y="12777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6534911" y="6375480"/>
            <a:ext cx="2452255" cy="712208"/>
            <a:chOff x="0" y="0"/>
            <a:chExt cx="590012" cy="171357"/>
          </a:xfrm>
        </p:grpSpPr>
        <p:sp>
          <p:nvSpPr>
            <p:cNvPr name="Freeform 13" id="13"/>
            <p:cNvSpPr/>
            <p:nvPr/>
          </p:nvSpPr>
          <p:spPr>
            <a:xfrm flipH="false" flipV="false" rot="0">
              <a:off x="0" y="0"/>
              <a:ext cx="590012" cy="171357"/>
            </a:xfrm>
            <a:custGeom>
              <a:avLst/>
              <a:gdLst/>
              <a:ahLst/>
              <a:cxnLst/>
              <a:rect r="r" b="b" t="t" l="l"/>
              <a:pathLst>
                <a:path h="171357" w="590012">
                  <a:moveTo>
                    <a:pt x="31571" y="0"/>
                  </a:moveTo>
                  <a:lnTo>
                    <a:pt x="558441" y="0"/>
                  </a:lnTo>
                  <a:cubicBezTo>
                    <a:pt x="566814" y="0"/>
                    <a:pt x="574845" y="3326"/>
                    <a:pt x="580765" y="9247"/>
                  </a:cubicBezTo>
                  <a:cubicBezTo>
                    <a:pt x="586686" y="15167"/>
                    <a:pt x="590012" y="23198"/>
                    <a:pt x="590012" y="31571"/>
                  </a:cubicBezTo>
                  <a:lnTo>
                    <a:pt x="590012" y="139786"/>
                  </a:lnTo>
                  <a:cubicBezTo>
                    <a:pt x="590012" y="148160"/>
                    <a:pt x="586686" y="156190"/>
                    <a:pt x="580765" y="162110"/>
                  </a:cubicBezTo>
                  <a:cubicBezTo>
                    <a:pt x="574845" y="168031"/>
                    <a:pt x="566814" y="171357"/>
                    <a:pt x="558441" y="171357"/>
                  </a:cubicBezTo>
                  <a:lnTo>
                    <a:pt x="31571" y="171357"/>
                  </a:lnTo>
                  <a:cubicBezTo>
                    <a:pt x="23198" y="171357"/>
                    <a:pt x="15167" y="168031"/>
                    <a:pt x="9247" y="162110"/>
                  </a:cubicBezTo>
                  <a:cubicBezTo>
                    <a:pt x="3326" y="156190"/>
                    <a:pt x="0" y="148160"/>
                    <a:pt x="0" y="139786"/>
                  </a:cubicBezTo>
                  <a:lnTo>
                    <a:pt x="0" y="31571"/>
                  </a:lnTo>
                  <a:cubicBezTo>
                    <a:pt x="0" y="23198"/>
                    <a:pt x="3326" y="15167"/>
                    <a:pt x="9247" y="9247"/>
                  </a:cubicBezTo>
                  <a:cubicBezTo>
                    <a:pt x="15167" y="3326"/>
                    <a:pt x="23198" y="0"/>
                    <a:pt x="31571" y="0"/>
                  </a:cubicBezTo>
                  <a:close/>
                </a:path>
              </a:pathLst>
            </a:custGeom>
            <a:solidFill>
              <a:srgbClr val="FFFFFF"/>
            </a:solidFill>
            <a:ln cap="sq">
              <a:noFill/>
              <a:prstDash val="solid"/>
              <a:miter/>
            </a:ln>
          </p:spPr>
        </p:sp>
        <p:sp>
          <p:nvSpPr>
            <p:cNvPr name="TextBox 14" id="14"/>
            <p:cNvSpPr txBox="true"/>
            <p:nvPr/>
          </p:nvSpPr>
          <p:spPr>
            <a:xfrm>
              <a:off x="0" y="-38100"/>
              <a:ext cx="590012" cy="209457"/>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6534911" y="7255164"/>
            <a:ext cx="2452255" cy="712208"/>
            <a:chOff x="0" y="0"/>
            <a:chExt cx="590012" cy="171357"/>
          </a:xfrm>
        </p:grpSpPr>
        <p:sp>
          <p:nvSpPr>
            <p:cNvPr name="Freeform 16" id="16"/>
            <p:cNvSpPr/>
            <p:nvPr/>
          </p:nvSpPr>
          <p:spPr>
            <a:xfrm flipH="false" flipV="false" rot="0">
              <a:off x="0" y="0"/>
              <a:ext cx="590012" cy="171357"/>
            </a:xfrm>
            <a:custGeom>
              <a:avLst/>
              <a:gdLst/>
              <a:ahLst/>
              <a:cxnLst/>
              <a:rect r="r" b="b" t="t" l="l"/>
              <a:pathLst>
                <a:path h="171357" w="590012">
                  <a:moveTo>
                    <a:pt x="31571" y="0"/>
                  </a:moveTo>
                  <a:lnTo>
                    <a:pt x="558441" y="0"/>
                  </a:lnTo>
                  <a:cubicBezTo>
                    <a:pt x="566814" y="0"/>
                    <a:pt x="574845" y="3326"/>
                    <a:pt x="580765" y="9247"/>
                  </a:cubicBezTo>
                  <a:cubicBezTo>
                    <a:pt x="586686" y="15167"/>
                    <a:pt x="590012" y="23198"/>
                    <a:pt x="590012" y="31571"/>
                  </a:cubicBezTo>
                  <a:lnTo>
                    <a:pt x="590012" y="139786"/>
                  </a:lnTo>
                  <a:cubicBezTo>
                    <a:pt x="590012" y="148160"/>
                    <a:pt x="586686" y="156190"/>
                    <a:pt x="580765" y="162110"/>
                  </a:cubicBezTo>
                  <a:cubicBezTo>
                    <a:pt x="574845" y="168031"/>
                    <a:pt x="566814" y="171357"/>
                    <a:pt x="558441" y="171357"/>
                  </a:cubicBezTo>
                  <a:lnTo>
                    <a:pt x="31571" y="171357"/>
                  </a:lnTo>
                  <a:cubicBezTo>
                    <a:pt x="23198" y="171357"/>
                    <a:pt x="15167" y="168031"/>
                    <a:pt x="9247" y="162110"/>
                  </a:cubicBezTo>
                  <a:cubicBezTo>
                    <a:pt x="3326" y="156190"/>
                    <a:pt x="0" y="148160"/>
                    <a:pt x="0" y="139786"/>
                  </a:cubicBezTo>
                  <a:lnTo>
                    <a:pt x="0" y="31571"/>
                  </a:lnTo>
                  <a:cubicBezTo>
                    <a:pt x="0" y="23198"/>
                    <a:pt x="3326" y="15167"/>
                    <a:pt x="9247" y="9247"/>
                  </a:cubicBezTo>
                  <a:cubicBezTo>
                    <a:pt x="15167" y="3326"/>
                    <a:pt x="23198" y="0"/>
                    <a:pt x="31571" y="0"/>
                  </a:cubicBezTo>
                  <a:close/>
                </a:path>
              </a:pathLst>
            </a:custGeom>
            <a:solidFill>
              <a:srgbClr val="FFFFFF"/>
            </a:solidFill>
            <a:ln cap="sq">
              <a:noFill/>
              <a:prstDash val="solid"/>
              <a:miter/>
            </a:ln>
          </p:spPr>
        </p:sp>
        <p:sp>
          <p:nvSpPr>
            <p:cNvPr name="TextBox 17" id="17"/>
            <p:cNvSpPr txBox="true"/>
            <p:nvPr/>
          </p:nvSpPr>
          <p:spPr>
            <a:xfrm>
              <a:off x="0" y="-38100"/>
              <a:ext cx="590012" cy="209457"/>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6534911" y="8134849"/>
            <a:ext cx="2452255" cy="712208"/>
            <a:chOff x="0" y="0"/>
            <a:chExt cx="590012" cy="171357"/>
          </a:xfrm>
        </p:grpSpPr>
        <p:sp>
          <p:nvSpPr>
            <p:cNvPr name="Freeform 19" id="19"/>
            <p:cNvSpPr/>
            <p:nvPr/>
          </p:nvSpPr>
          <p:spPr>
            <a:xfrm flipH="false" flipV="false" rot="0">
              <a:off x="0" y="0"/>
              <a:ext cx="590012" cy="171357"/>
            </a:xfrm>
            <a:custGeom>
              <a:avLst/>
              <a:gdLst/>
              <a:ahLst/>
              <a:cxnLst/>
              <a:rect r="r" b="b" t="t" l="l"/>
              <a:pathLst>
                <a:path h="171357" w="590012">
                  <a:moveTo>
                    <a:pt x="31571" y="0"/>
                  </a:moveTo>
                  <a:lnTo>
                    <a:pt x="558441" y="0"/>
                  </a:lnTo>
                  <a:cubicBezTo>
                    <a:pt x="566814" y="0"/>
                    <a:pt x="574845" y="3326"/>
                    <a:pt x="580765" y="9247"/>
                  </a:cubicBezTo>
                  <a:cubicBezTo>
                    <a:pt x="586686" y="15167"/>
                    <a:pt x="590012" y="23198"/>
                    <a:pt x="590012" y="31571"/>
                  </a:cubicBezTo>
                  <a:lnTo>
                    <a:pt x="590012" y="139786"/>
                  </a:lnTo>
                  <a:cubicBezTo>
                    <a:pt x="590012" y="148160"/>
                    <a:pt x="586686" y="156190"/>
                    <a:pt x="580765" y="162110"/>
                  </a:cubicBezTo>
                  <a:cubicBezTo>
                    <a:pt x="574845" y="168031"/>
                    <a:pt x="566814" y="171357"/>
                    <a:pt x="558441" y="171357"/>
                  </a:cubicBezTo>
                  <a:lnTo>
                    <a:pt x="31571" y="171357"/>
                  </a:lnTo>
                  <a:cubicBezTo>
                    <a:pt x="23198" y="171357"/>
                    <a:pt x="15167" y="168031"/>
                    <a:pt x="9247" y="162110"/>
                  </a:cubicBezTo>
                  <a:cubicBezTo>
                    <a:pt x="3326" y="156190"/>
                    <a:pt x="0" y="148160"/>
                    <a:pt x="0" y="139786"/>
                  </a:cubicBezTo>
                  <a:lnTo>
                    <a:pt x="0" y="31571"/>
                  </a:lnTo>
                  <a:cubicBezTo>
                    <a:pt x="0" y="23198"/>
                    <a:pt x="3326" y="15167"/>
                    <a:pt x="9247" y="9247"/>
                  </a:cubicBezTo>
                  <a:cubicBezTo>
                    <a:pt x="15167" y="3326"/>
                    <a:pt x="23198" y="0"/>
                    <a:pt x="31571" y="0"/>
                  </a:cubicBezTo>
                  <a:close/>
                </a:path>
              </a:pathLst>
            </a:custGeom>
            <a:solidFill>
              <a:srgbClr val="FFFFFF"/>
            </a:solidFill>
            <a:ln cap="sq">
              <a:noFill/>
              <a:prstDash val="solid"/>
              <a:miter/>
            </a:ln>
          </p:spPr>
        </p:sp>
        <p:sp>
          <p:nvSpPr>
            <p:cNvPr name="TextBox 20" id="20"/>
            <p:cNvSpPr txBox="true"/>
            <p:nvPr/>
          </p:nvSpPr>
          <p:spPr>
            <a:xfrm>
              <a:off x="0" y="-38100"/>
              <a:ext cx="590012" cy="209457"/>
            </a:xfrm>
            <a:prstGeom prst="rect">
              <a:avLst/>
            </a:prstGeom>
          </p:spPr>
          <p:txBody>
            <a:bodyPr anchor="ctr" rtlCol="false" tIns="50800" lIns="50800" bIns="50800" rIns="50800"/>
            <a:lstStyle/>
            <a:p>
              <a:pPr algn="ctr">
                <a:lnSpc>
                  <a:spcPts val="2659"/>
                </a:lnSpc>
                <a:spcBef>
                  <a:spcPct val="0"/>
                </a:spcBef>
              </a:pPr>
            </a:p>
          </p:txBody>
        </p:sp>
      </p:grpSp>
      <p:sp>
        <p:nvSpPr>
          <p:cNvPr name="TextBox 21" id="21"/>
          <p:cNvSpPr txBox="true"/>
          <p:nvPr/>
        </p:nvSpPr>
        <p:spPr>
          <a:xfrm rot="0">
            <a:off x="6803230" y="5154868"/>
            <a:ext cx="1904317" cy="663801"/>
          </a:xfrm>
          <a:prstGeom prst="rect">
            <a:avLst/>
          </a:prstGeom>
        </p:spPr>
        <p:txBody>
          <a:bodyPr anchor="t" rtlCol="false" tIns="0" lIns="0" bIns="0" rIns="0">
            <a:spAutoFit/>
          </a:bodyPr>
          <a:lstStyle/>
          <a:p>
            <a:pPr algn="ctr">
              <a:lnSpc>
                <a:spcPts val="2576"/>
              </a:lnSpc>
            </a:pPr>
            <a:r>
              <a:rPr lang="en-US" b="true" sz="2147" spc="53">
                <a:solidFill>
                  <a:srgbClr val="0B132B"/>
                </a:solidFill>
                <a:latin typeface="Bricolage Grotesque Bold"/>
                <a:ea typeface="Bricolage Grotesque Bold"/>
                <a:cs typeface="Bricolage Grotesque Bold"/>
                <a:sym typeface="Bricolage Grotesque Bold"/>
              </a:rPr>
              <a:t>Larana Electric Car</a:t>
            </a:r>
          </a:p>
        </p:txBody>
      </p:sp>
      <p:sp>
        <p:nvSpPr>
          <p:cNvPr name="TextBox 22" id="22"/>
          <p:cNvSpPr txBox="true"/>
          <p:nvPr/>
        </p:nvSpPr>
        <p:spPr>
          <a:xfrm rot="0">
            <a:off x="10151612" y="1889921"/>
            <a:ext cx="6571742" cy="3298898"/>
          </a:xfrm>
          <a:prstGeom prst="rect">
            <a:avLst/>
          </a:prstGeom>
        </p:spPr>
        <p:txBody>
          <a:bodyPr anchor="t" rtlCol="false" tIns="0" lIns="0" bIns="0" rIns="0">
            <a:spAutoFit/>
          </a:bodyPr>
          <a:lstStyle/>
          <a:p>
            <a:pPr algn="l">
              <a:lnSpc>
                <a:spcPts val="12752"/>
              </a:lnSpc>
            </a:pPr>
            <a:r>
              <a:rPr lang="en-US" sz="12752">
                <a:solidFill>
                  <a:srgbClr val="0B132B"/>
                </a:solidFill>
                <a:latin typeface="Rubik One"/>
                <a:ea typeface="Rubik One"/>
                <a:cs typeface="Rubik One"/>
                <a:sym typeface="Rubik One"/>
              </a:rPr>
              <a:t>Thank You!</a:t>
            </a:r>
          </a:p>
        </p:txBody>
      </p:sp>
      <p:sp>
        <p:nvSpPr>
          <p:cNvPr name="TextBox 23" id="23"/>
          <p:cNvSpPr txBox="true"/>
          <p:nvPr/>
        </p:nvSpPr>
        <p:spPr>
          <a:xfrm rot="0">
            <a:off x="7001985" y="6619175"/>
            <a:ext cx="1518107" cy="318061"/>
          </a:xfrm>
          <a:prstGeom prst="rect">
            <a:avLst/>
          </a:prstGeom>
        </p:spPr>
        <p:txBody>
          <a:bodyPr anchor="t" rtlCol="false" tIns="0" lIns="0" bIns="0" rIns="0">
            <a:spAutoFit/>
          </a:bodyPr>
          <a:lstStyle/>
          <a:p>
            <a:pPr algn="ctr">
              <a:lnSpc>
                <a:spcPts val="2400"/>
              </a:lnSpc>
            </a:pPr>
            <a:r>
              <a:rPr lang="en-US" sz="2400">
                <a:solidFill>
                  <a:srgbClr val="112752"/>
                </a:solidFill>
                <a:latin typeface="Rubik One"/>
                <a:ea typeface="Rubik One"/>
                <a:cs typeface="Rubik One"/>
                <a:sym typeface="Rubik One"/>
              </a:rPr>
              <a:t>Fast</a:t>
            </a:r>
          </a:p>
        </p:txBody>
      </p:sp>
      <p:sp>
        <p:nvSpPr>
          <p:cNvPr name="TextBox 24" id="24"/>
          <p:cNvSpPr txBox="true"/>
          <p:nvPr/>
        </p:nvSpPr>
        <p:spPr>
          <a:xfrm rot="0">
            <a:off x="6756961" y="7479468"/>
            <a:ext cx="2008154" cy="318061"/>
          </a:xfrm>
          <a:prstGeom prst="rect">
            <a:avLst/>
          </a:prstGeom>
        </p:spPr>
        <p:txBody>
          <a:bodyPr anchor="t" rtlCol="false" tIns="0" lIns="0" bIns="0" rIns="0">
            <a:spAutoFit/>
          </a:bodyPr>
          <a:lstStyle/>
          <a:p>
            <a:pPr algn="ctr">
              <a:lnSpc>
                <a:spcPts val="2400"/>
              </a:lnSpc>
            </a:pPr>
            <a:r>
              <a:rPr lang="en-US" sz="2400">
                <a:solidFill>
                  <a:srgbClr val="112752"/>
                </a:solidFill>
                <a:latin typeface="Rubik One"/>
                <a:ea typeface="Rubik One"/>
                <a:cs typeface="Rubik One"/>
                <a:sym typeface="Rubik One"/>
              </a:rPr>
              <a:t>Modern</a:t>
            </a:r>
          </a:p>
        </p:txBody>
      </p:sp>
      <p:sp>
        <p:nvSpPr>
          <p:cNvPr name="TextBox 25" id="25"/>
          <p:cNvSpPr txBox="true"/>
          <p:nvPr/>
        </p:nvSpPr>
        <p:spPr>
          <a:xfrm rot="0">
            <a:off x="6613651" y="8373701"/>
            <a:ext cx="2294775" cy="318061"/>
          </a:xfrm>
          <a:prstGeom prst="rect">
            <a:avLst/>
          </a:prstGeom>
        </p:spPr>
        <p:txBody>
          <a:bodyPr anchor="t" rtlCol="false" tIns="0" lIns="0" bIns="0" rIns="0">
            <a:spAutoFit/>
          </a:bodyPr>
          <a:lstStyle/>
          <a:p>
            <a:pPr algn="ctr">
              <a:lnSpc>
                <a:spcPts val="2400"/>
              </a:lnSpc>
            </a:pPr>
            <a:r>
              <a:rPr lang="en-US" sz="2400">
                <a:solidFill>
                  <a:srgbClr val="112752"/>
                </a:solidFill>
                <a:latin typeface="Rubik One"/>
                <a:ea typeface="Rubik One"/>
                <a:cs typeface="Rubik One"/>
                <a:sym typeface="Rubik One"/>
              </a:rPr>
              <a:t>Efficient</a:t>
            </a:r>
          </a:p>
        </p:txBody>
      </p:sp>
      <p:grpSp>
        <p:nvGrpSpPr>
          <p:cNvPr name="Group 26" id="26"/>
          <p:cNvGrpSpPr/>
          <p:nvPr/>
        </p:nvGrpSpPr>
        <p:grpSpPr>
          <a:xfrm rot="0">
            <a:off x="11502671" y="9960324"/>
            <a:ext cx="9960587" cy="1142074"/>
            <a:chOff x="0" y="0"/>
            <a:chExt cx="2572779" cy="294993"/>
          </a:xfrm>
        </p:grpSpPr>
        <p:sp>
          <p:nvSpPr>
            <p:cNvPr name="Freeform 27" id="27"/>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28" id="28"/>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29" id="29"/>
          <p:cNvGrpSpPr/>
          <p:nvPr/>
        </p:nvGrpSpPr>
        <p:grpSpPr>
          <a:xfrm rot="0">
            <a:off x="-5959063" y="-784283"/>
            <a:ext cx="13801709" cy="1142074"/>
            <a:chOff x="0" y="0"/>
            <a:chExt cx="3564925" cy="294993"/>
          </a:xfrm>
        </p:grpSpPr>
        <p:sp>
          <p:nvSpPr>
            <p:cNvPr name="Freeform 30" id="30"/>
            <p:cNvSpPr/>
            <p:nvPr/>
          </p:nvSpPr>
          <p:spPr>
            <a:xfrm flipH="false" flipV="false" rot="0">
              <a:off x="0" y="0"/>
              <a:ext cx="3564925" cy="294993"/>
            </a:xfrm>
            <a:custGeom>
              <a:avLst/>
              <a:gdLst/>
              <a:ahLst/>
              <a:cxnLst/>
              <a:rect r="r" b="b" t="t" l="l"/>
              <a:pathLst>
                <a:path h="294993" w="3564925">
                  <a:moveTo>
                    <a:pt x="33656" y="0"/>
                  </a:moveTo>
                  <a:lnTo>
                    <a:pt x="3531269" y="0"/>
                  </a:lnTo>
                  <a:cubicBezTo>
                    <a:pt x="3549857" y="0"/>
                    <a:pt x="3564925" y="15068"/>
                    <a:pt x="3564925" y="33656"/>
                  </a:cubicBezTo>
                  <a:lnTo>
                    <a:pt x="3564925" y="261337"/>
                  </a:lnTo>
                  <a:cubicBezTo>
                    <a:pt x="3564925" y="279925"/>
                    <a:pt x="3549857" y="294993"/>
                    <a:pt x="3531269" y="294993"/>
                  </a:cubicBezTo>
                  <a:lnTo>
                    <a:pt x="33656" y="294993"/>
                  </a:lnTo>
                  <a:cubicBezTo>
                    <a:pt x="15068" y="294993"/>
                    <a:pt x="0" y="279925"/>
                    <a:pt x="0" y="261337"/>
                  </a:cubicBezTo>
                  <a:lnTo>
                    <a:pt x="0" y="33656"/>
                  </a:lnTo>
                  <a:cubicBezTo>
                    <a:pt x="0" y="15068"/>
                    <a:pt x="15068" y="0"/>
                    <a:pt x="33656" y="0"/>
                  </a:cubicBezTo>
                  <a:close/>
                </a:path>
              </a:pathLst>
            </a:custGeom>
            <a:ln w="19050" cap="rnd">
              <a:solidFill>
                <a:srgbClr val="00B58F"/>
              </a:solidFill>
              <a:prstDash val="solid"/>
              <a:round/>
            </a:ln>
          </p:spPr>
        </p:sp>
        <p:sp>
          <p:nvSpPr>
            <p:cNvPr name="TextBox 31" id="31"/>
            <p:cNvSpPr txBox="true"/>
            <p:nvPr/>
          </p:nvSpPr>
          <p:spPr>
            <a:xfrm>
              <a:off x="0" y="-38100"/>
              <a:ext cx="3564925" cy="333093"/>
            </a:xfrm>
            <a:prstGeom prst="rect">
              <a:avLst/>
            </a:prstGeom>
          </p:spPr>
          <p:txBody>
            <a:bodyPr anchor="ctr" rtlCol="false" tIns="50800" lIns="50800" bIns="50800" rIns="50800"/>
            <a:lstStyle/>
            <a:p>
              <a:pPr algn="ctr">
                <a:lnSpc>
                  <a:spcPts val="2659"/>
                </a:lnSpc>
                <a:spcBef>
                  <a:spcPct val="0"/>
                </a:spcBef>
              </a:pPr>
            </a:p>
          </p:txBody>
        </p:sp>
      </p:grpSp>
      <p:sp>
        <p:nvSpPr>
          <p:cNvPr name="TextBox 32" id="32"/>
          <p:cNvSpPr txBox="true"/>
          <p:nvPr/>
        </p:nvSpPr>
        <p:spPr>
          <a:xfrm rot="0">
            <a:off x="10226750" y="4885364"/>
            <a:ext cx="2998350" cy="844277"/>
          </a:xfrm>
          <a:prstGeom prst="rect">
            <a:avLst/>
          </a:prstGeom>
        </p:spPr>
        <p:txBody>
          <a:bodyPr anchor="t" rtlCol="false" tIns="0" lIns="0" bIns="0" rIns="0">
            <a:spAutoFit/>
          </a:bodyPr>
          <a:lstStyle/>
          <a:p>
            <a:pPr algn="ctr">
              <a:lnSpc>
                <a:spcPts val="6988"/>
              </a:lnSpc>
              <a:spcBef>
                <a:spcPct val="0"/>
              </a:spcBef>
            </a:pPr>
            <a:r>
              <a:rPr lang="en-US" sz="4991">
                <a:solidFill>
                  <a:srgbClr val="000000"/>
                </a:solidFill>
                <a:latin typeface="Bricolage Grotesque"/>
                <a:ea typeface="Bricolage Grotesque"/>
                <a:cs typeface="Bricolage Grotesque"/>
                <a:sym typeface="Bricolage Grotesque"/>
              </a:rPr>
              <a:t>project by</a:t>
            </a:r>
          </a:p>
        </p:txBody>
      </p:sp>
      <p:sp>
        <p:nvSpPr>
          <p:cNvPr name="TextBox 33" id="33"/>
          <p:cNvSpPr txBox="true"/>
          <p:nvPr/>
        </p:nvSpPr>
        <p:spPr>
          <a:xfrm rot="0">
            <a:off x="9855302" y="6124108"/>
            <a:ext cx="6430887" cy="2834251"/>
          </a:xfrm>
          <a:prstGeom prst="rect">
            <a:avLst/>
          </a:prstGeom>
        </p:spPr>
        <p:txBody>
          <a:bodyPr anchor="t" rtlCol="false" tIns="0" lIns="0" bIns="0" rIns="0">
            <a:spAutoFit/>
          </a:bodyPr>
          <a:lstStyle/>
          <a:p>
            <a:pPr algn="ctr">
              <a:lnSpc>
                <a:spcPts val="4548"/>
              </a:lnSpc>
            </a:pPr>
            <a:r>
              <a:rPr lang="en-US" sz="3248">
                <a:solidFill>
                  <a:srgbClr val="000000"/>
                </a:solidFill>
                <a:latin typeface="Bricolage Grotesque"/>
                <a:ea typeface="Bricolage Grotesque"/>
                <a:cs typeface="Bricolage Grotesque"/>
                <a:sym typeface="Bricolage Grotesque"/>
              </a:rPr>
              <a:t>ANKIT VERMA-240002008</a:t>
            </a:r>
          </a:p>
          <a:p>
            <a:pPr algn="ctr">
              <a:lnSpc>
                <a:spcPts val="4548"/>
              </a:lnSpc>
            </a:pPr>
            <a:r>
              <a:rPr lang="en-US" sz="3248">
                <a:solidFill>
                  <a:srgbClr val="000000"/>
                </a:solidFill>
                <a:latin typeface="Bricolage Grotesque"/>
                <a:ea typeface="Bricolage Grotesque"/>
                <a:cs typeface="Bricolage Grotesque"/>
                <a:sym typeface="Bricolage Grotesque"/>
              </a:rPr>
              <a:t>MIDATANA DHILEEP-240002038</a:t>
            </a:r>
          </a:p>
          <a:p>
            <a:pPr algn="ctr">
              <a:lnSpc>
                <a:spcPts val="4548"/>
              </a:lnSpc>
            </a:pPr>
            <a:r>
              <a:rPr lang="en-US" sz="3248">
                <a:solidFill>
                  <a:srgbClr val="000000"/>
                </a:solidFill>
                <a:latin typeface="Bricolage Grotesque"/>
                <a:ea typeface="Bricolage Grotesque"/>
                <a:cs typeface="Bricolage Grotesque"/>
                <a:sym typeface="Bricolage Grotesque"/>
              </a:rPr>
              <a:t>PANKAJ KUMAR-240002048</a:t>
            </a:r>
          </a:p>
          <a:p>
            <a:pPr algn="ctr">
              <a:lnSpc>
                <a:spcPts val="4548"/>
              </a:lnSpc>
            </a:pPr>
            <a:r>
              <a:rPr lang="en-US" sz="3248">
                <a:solidFill>
                  <a:srgbClr val="000000"/>
                </a:solidFill>
                <a:latin typeface="Bricolage Grotesque"/>
                <a:ea typeface="Bricolage Grotesque"/>
                <a:cs typeface="Bricolage Grotesque"/>
                <a:sym typeface="Bricolage Grotesque"/>
              </a:rPr>
              <a:t>SIDDHARTHA PORIKA-240002071</a:t>
            </a:r>
          </a:p>
          <a:p>
            <a:pPr algn="ctr">
              <a:lnSpc>
                <a:spcPts val="4548"/>
              </a:lnSpc>
              <a:spcBef>
                <a:spcPct val="0"/>
              </a:spcBef>
            </a:pPr>
            <a:r>
              <a:rPr lang="en-US" sz="3248">
                <a:solidFill>
                  <a:srgbClr val="000000"/>
                </a:solidFill>
                <a:latin typeface="Bricolage Grotesque"/>
                <a:ea typeface="Bricolage Grotesque"/>
                <a:cs typeface="Bricolage Grotesque"/>
                <a:sym typeface="Bricolage Grotesque"/>
              </a:rPr>
              <a:t>SATHVIK RATHOD-240002067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DAHH-qmSUy8</dc:identifier>
  <dcterms:modified xsi:type="dcterms:W3CDTF">2011-08-01T06:04:30Z</dcterms:modified>
  <cp:revision>1</cp:revision>
  <dc:title>charging techniques for Ev batteries</dc:title>
</cp:coreProperties>
</file>